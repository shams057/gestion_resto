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2194" y="5179491"/>
            <a:ext cx="6883394" cy="6845849"/>
          </a:xfrm>
          <a:custGeom>
            <a:avLst/>
            <a:gdLst/>
            <a:ahLst/>
            <a:cxnLst/>
            <a:rect r="r" b="b" t="t" l="l"/>
            <a:pathLst>
              <a:path h="6845849" w="6883394">
                <a:moveTo>
                  <a:pt x="0" y="0"/>
                </a:moveTo>
                <a:lnTo>
                  <a:pt x="6883395" y="0"/>
                </a:lnTo>
                <a:lnTo>
                  <a:pt x="6883395" y="6845848"/>
                </a:lnTo>
                <a:lnTo>
                  <a:pt x="0" y="6845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53859" y="-2023390"/>
            <a:ext cx="6718842" cy="6756974"/>
          </a:xfrm>
          <a:custGeom>
            <a:avLst/>
            <a:gdLst/>
            <a:ahLst/>
            <a:cxnLst/>
            <a:rect r="r" b="b" t="t" l="l"/>
            <a:pathLst>
              <a:path h="6756974" w="6718842">
                <a:moveTo>
                  <a:pt x="0" y="0"/>
                </a:moveTo>
                <a:lnTo>
                  <a:pt x="6718842" y="0"/>
                </a:lnTo>
                <a:lnTo>
                  <a:pt x="6718842" y="6756974"/>
                </a:lnTo>
                <a:lnTo>
                  <a:pt x="0" y="6756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574519"/>
            <a:ext cx="18288000" cy="172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39"/>
              </a:lnSpc>
            </a:pPr>
            <a:r>
              <a:rPr lang="en-US" b="true" sz="10099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ETUDE DE L’EXISTANT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242790"/>
            <a:ext cx="18288000" cy="1153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700">
                <a:solidFill>
                  <a:srgbClr val="544541"/>
                </a:solidFill>
                <a:latin typeface="Montserrat"/>
                <a:ea typeface="Montserrat"/>
                <a:cs typeface="Montserrat"/>
                <a:sym typeface="Montserrat"/>
              </a:rPr>
              <a:t>Gestion Restaurant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570725">
            <a:off x="726695" y="6634640"/>
            <a:ext cx="4012164" cy="3980285"/>
          </a:xfrm>
          <a:custGeom>
            <a:avLst/>
            <a:gdLst/>
            <a:ahLst/>
            <a:cxnLst/>
            <a:rect r="r" b="b" t="t" l="l"/>
            <a:pathLst>
              <a:path h="3980285" w="4012164">
                <a:moveTo>
                  <a:pt x="0" y="0"/>
                </a:moveTo>
                <a:lnTo>
                  <a:pt x="4012164" y="0"/>
                </a:lnTo>
                <a:lnTo>
                  <a:pt x="4012164" y="3980285"/>
                </a:lnTo>
                <a:lnTo>
                  <a:pt x="0" y="39802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72309">
            <a:off x="-1240943" y="5631378"/>
            <a:ext cx="3419424" cy="4061951"/>
          </a:xfrm>
          <a:custGeom>
            <a:avLst/>
            <a:gdLst/>
            <a:ahLst/>
            <a:cxnLst/>
            <a:rect r="r" b="b" t="t" l="l"/>
            <a:pathLst>
              <a:path h="4061951" w="3419424">
                <a:moveTo>
                  <a:pt x="0" y="0"/>
                </a:moveTo>
                <a:lnTo>
                  <a:pt x="3419424" y="0"/>
                </a:lnTo>
                <a:lnTo>
                  <a:pt x="3419424" y="4061951"/>
                </a:lnTo>
                <a:lnTo>
                  <a:pt x="0" y="4061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93787" y="5179491"/>
            <a:ext cx="9013096" cy="196649"/>
          </a:xfrm>
          <a:custGeom>
            <a:avLst/>
            <a:gdLst/>
            <a:ahLst/>
            <a:cxnLst/>
            <a:rect r="r" b="b" t="t" l="l"/>
            <a:pathLst>
              <a:path h="196649" w="9013096">
                <a:moveTo>
                  <a:pt x="0" y="0"/>
                </a:moveTo>
                <a:lnTo>
                  <a:pt x="9013096" y="0"/>
                </a:lnTo>
                <a:lnTo>
                  <a:pt x="9013096" y="196649"/>
                </a:lnTo>
                <a:lnTo>
                  <a:pt x="0" y="196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878124">
            <a:off x="328169" y="6718630"/>
            <a:ext cx="3030879" cy="3006797"/>
          </a:xfrm>
          <a:custGeom>
            <a:avLst/>
            <a:gdLst/>
            <a:ahLst/>
            <a:cxnLst/>
            <a:rect r="r" b="b" t="t" l="l"/>
            <a:pathLst>
              <a:path h="3006797" w="3030879">
                <a:moveTo>
                  <a:pt x="0" y="0"/>
                </a:moveTo>
                <a:lnTo>
                  <a:pt x="3030879" y="0"/>
                </a:lnTo>
                <a:lnTo>
                  <a:pt x="3030879" y="3006797"/>
                </a:lnTo>
                <a:lnTo>
                  <a:pt x="0" y="3006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58461" y="5572478"/>
            <a:ext cx="5483583" cy="5453673"/>
          </a:xfrm>
          <a:custGeom>
            <a:avLst/>
            <a:gdLst/>
            <a:ahLst/>
            <a:cxnLst/>
            <a:rect r="r" b="b" t="t" l="l"/>
            <a:pathLst>
              <a:path h="5453673" w="5483583">
                <a:moveTo>
                  <a:pt x="0" y="0"/>
                </a:moveTo>
                <a:lnTo>
                  <a:pt x="5483583" y="0"/>
                </a:lnTo>
                <a:lnTo>
                  <a:pt x="5483583" y="5453672"/>
                </a:lnTo>
                <a:lnTo>
                  <a:pt x="0" y="5453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38200" y="3419828"/>
            <a:ext cx="116116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Les restaurants utilisent des outils variés et souvent dispersés.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Les processus sont majoritairement manuels ou semi-automatisés.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Les données sont difficiles à centraliser (commandes, clients, plats, employés).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Manque de visibilité en temps réel sur les performances quotidiennes.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72309">
            <a:off x="-876885" y="4507232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95150" y="-1157761"/>
            <a:ext cx="14417813" cy="3086100"/>
            <a:chOff x="0" y="0"/>
            <a:chExt cx="379728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97284" cy="812800"/>
            </a:xfrm>
            <a:custGeom>
              <a:avLst/>
              <a:gdLst/>
              <a:ahLst/>
              <a:cxnLst/>
              <a:rect r="r" b="b" t="t" l="l"/>
              <a:pathLst>
                <a:path h="812800" w="3797284">
                  <a:moveTo>
                    <a:pt x="23627" y="0"/>
                  </a:moveTo>
                  <a:lnTo>
                    <a:pt x="3773658" y="0"/>
                  </a:lnTo>
                  <a:cubicBezTo>
                    <a:pt x="3779924" y="0"/>
                    <a:pt x="3785933" y="2489"/>
                    <a:pt x="3790364" y="6920"/>
                  </a:cubicBezTo>
                  <a:cubicBezTo>
                    <a:pt x="3794795" y="11351"/>
                    <a:pt x="3797284" y="17360"/>
                    <a:pt x="3797284" y="23627"/>
                  </a:cubicBezTo>
                  <a:lnTo>
                    <a:pt x="3797284" y="789173"/>
                  </a:lnTo>
                  <a:cubicBezTo>
                    <a:pt x="3797284" y="795440"/>
                    <a:pt x="3794795" y="801449"/>
                    <a:pt x="3790364" y="805880"/>
                  </a:cubicBezTo>
                  <a:cubicBezTo>
                    <a:pt x="3785933" y="810311"/>
                    <a:pt x="3779924" y="812800"/>
                    <a:pt x="3773658" y="812800"/>
                  </a:cubicBezTo>
                  <a:lnTo>
                    <a:pt x="23627" y="812800"/>
                  </a:lnTo>
                  <a:cubicBezTo>
                    <a:pt x="17360" y="812800"/>
                    <a:pt x="11351" y="810311"/>
                    <a:pt x="6920" y="805880"/>
                  </a:cubicBezTo>
                  <a:cubicBezTo>
                    <a:pt x="2489" y="801449"/>
                    <a:pt x="0" y="795440"/>
                    <a:pt x="0" y="789173"/>
                  </a:cubicBezTo>
                  <a:lnTo>
                    <a:pt x="0" y="23627"/>
                  </a:lnTo>
                  <a:cubicBezTo>
                    <a:pt x="0" y="17360"/>
                    <a:pt x="2489" y="11351"/>
                    <a:pt x="6920" y="6920"/>
                  </a:cubicBezTo>
                  <a:cubicBezTo>
                    <a:pt x="11351" y="2489"/>
                    <a:pt x="17360" y="0"/>
                    <a:pt x="23627" y="0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79728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232889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F8F7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CONTEXTE GÉNÉRAL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9937" y="-1339432"/>
            <a:ext cx="17149936" cy="3056289"/>
            <a:chOff x="0" y="0"/>
            <a:chExt cx="4516856" cy="804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6856" cy="804949"/>
            </a:xfrm>
            <a:custGeom>
              <a:avLst/>
              <a:gdLst/>
              <a:ahLst/>
              <a:cxnLst/>
              <a:rect r="r" b="b" t="t" l="l"/>
              <a:pathLst>
                <a:path h="804949" w="4516856">
                  <a:moveTo>
                    <a:pt x="19863" y="0"/>
                  </a:moveTo>
                  <a:lnTo>
                    <a:pt x="4496993" y="0"/>
                  </a:lnTo>
                  <a:cubicBezTo>
                    <a:pt x="4502261" y="0"/>
                    <a:pt x="4507313" y="2093"/>
                    <a:pt x="4511038" y="5818"/>
                  </a:cubicBezTo>
                  <a:cubicBezTo>
                    <a:pt x="4514763" y="9543"/>
                    <a:pt x="4516856" y="14595"/>
                    <a:pt x="4516856" y="19863"/>
                  </a:cubicBezTo>
                  <a:lnTo>
                    <a:pt x="4516856" y="785086"/>
                  </a:lnTo>
                  <a:cubicBezTo>
                    <a:pt x="4516856" y="796056"/>
                    <a:pt x="4507963" y="804949"/>
                    <a:pt x="4496993" y="804949"/>
                  </a:cubicBezTo>
                  <a:lnTo>
                    <a:pt x="19863" y="804949"/>
                  </a:lnTo>
                  <a:cubicBezTo>
                    <a:pt x="14595" y="804949"/>
                    <a:pt x="9543" y="802856"/>
                    <a:pt x="5818" y="799131"/>
                  </a:cubicBezTo>
                  <a:cubicBezTo>
                    <a:pt x="2093" y="795406"/>
                    <a:pt x="0" y="790354"/>
                    <a:pt x="0" y="785086"/>
                  </a:cubicBezTo>
                  <a:lnTo>
                    <a:pt x="0" y="19863"/>
                  </a:lnTo>
                  <a:cubicBezTo>
                    <a:pt x="0" y="14595"/>
                    <a:pt x="2093" y="9543"/>
                    <a:pt x="5818" y="5818"/>
                  </a:cubicBezTo>
                  <a:cubicBezTo>
                    <a:pt x="9543" y="2093"/>
                    <a:pt x="14595" y="0"/>
                    <a:pt x="19863" y="0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6856" cy="843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13092" y="6099535"/>
            <a:ext cx="5483583" cy="5453673"/>
          </a:xfrm>
          <a:custGeom>
            <a:avLst/>
            <a:gdLst/>
            <a:ahLst/>
            <a:cxnLst/>
            <a:rect r="r" b="b" t="t" l="l"/>
            <a:pathLst>
              <a:path h="5453673" w="5483583">
                <a:moveTo>
                  <a:pt x="0" y="0"/>
                </a:moveTo>
                <a:lnTo>
                  <a:pt x="5483584" y="0"/>
                </a:lnTo>
                <a:lnTo>
                  <a:pt x="5483584" y="5453673"/>
                </a:lnTo>
                <a:lnTo>
                  <a:pt x="0" y="5453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58552" y="2863415"/>
            <a:ext cx="5042644" cy="5071263"/>
          </a:xfrm>
          <a:custGeom>
            <a:avLst/>
            <a:gdLst/>
            <a:ahLst/>
            <a:cxnLst/>
            <a:rect r="r" b="b" t="t" l="l"/>
            <a:pathLst>
              <a:path h="5071263" w="5042644">
                <a:moveTo>
                  <a:pt x="0" y="0"/>
                </a:moveTo>
                <a:lnTo>
                  <a:pt x="5042643" y="0"/>
                </a:lnTo>
                <a:lnTo>
                  <a:pt x="5042643" y="5071263"/>
                </a:lnTo>
                <a:lnTo>
                  <a:pt x="0" y="50712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43351" y="3509041"/>
            <a:ext cx="10841469" cy="140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Carnets papier pour </a:t>
            </a: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commandes internes.</a:t>
            </a:r>
          </a:p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Notes dispersées pour réservations.</a:t>
            </a:r>
          </a:p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Difficulté à retrouver l’historique.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270989"/>
            <a:ext cx="18288000" cy="94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F8F7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OUTILS ACTUELLEMENT UTILISÉS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4297" y="2139313"/>
            <a:ext cx="14439577" cy="73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3"/>
              </a:lnSpc>
            </a:pPr>
            <a:r>
              <a:rPr lang="en-US" b="true" sz="4388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1 - GESTION MANUELLE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00491" y="2832913"/>
            <a:ext cx="10470760" cy="228453"/>
          </a:xfrm>
          <a:custGeom>
            <a:avLst/>
            <a:gdLst/>
            <a:ahLst/>
            <a:cxnLst/>
            <a:rect r="r" b="b" t="t" l="l"/>
            <a:pathLst>
              <a:path h="228453" w="10470760">
                <a:moveTo>
                  <a:pt x="0" y="0"/>
                </a:moveTo>
                <a:lnTo>
                  <a:pt x="10470761" y="0"/>
                </a:lnTo>
                <a:lnTo>
                  <a:pt x="10470761" y="228453"/>
                </a:lnTo>
                <a:lnTo>
                  <a:pt x="0" y="228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00491" y="5699446"/>
            <a:ext cx="10470760" cy="228453"/>
          </a:xfrm>
          <a:custGeom>
            <a:avLst/>
            <a:gdLst/>
            <a:ahLst/>
            <a:cxnLst/>
            <a:rect r="r" b="b" t="t" l="l"/>
            <a:pathLst>
              <a:path h="228453" w="10470760">
                <a:moveTo>
                  <a:pt x="0" y="0"/>
                </a:moveTo>
                <a:lnTo>
                  <a:pt x="10470761" y="0"/>
                </a:lnTo>
                <a:lnTo>
                  <a:pt x="10470761" y="228453"/>
                </a:lnTo>
                <a:lnTo>
                  <a:pt x="0" y="228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4297" y="4834209"/>
            <a:ext cx="14439577" cy="73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3"/>
              </a:lnSpc>
            </a:pPr>
            <a:r>
              <a:rPr lang="en-US" b="true" sz="4388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2 - FICHIERS EXCEL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43351" y="6051910"/>
            <a:ext cx="10841469" cy="140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Listes de clients, employés </a:t>
            </a: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 stocks.</a:t>
            </a:r>
          </a:p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</a:t>
            </a: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de synchronisation automatique.</a:t>
            </a:r>
          </a:p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isque d’erreurs et duplications.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37017" y="3439494"/>
            <a:ext cx="5733813" cy="5702537"/>
          </a:xfrm>
          <a:custGeom>
            <a:avLst/>
            <a:gdLst/>
            <a:ahLst/>
            <a:cxnLst/>
            <a:rect r="r" b="b" t="t" l="l"/>
            <a:pathLst>
              <a:path h="5702537" w="5733813">
                <a:moveTo>
                  <a:pt x="0" y="0"/>
                </a:moveTo>
                <a:lnTo>
                  <a:pt x="5733813" y="0"/>
                </a:lnTo>
                <a:lnTo>
                  <a:pt x="5733813" y="5702538"/>
                </a:lnTo>
                <a:lnTo>
                  <a:pt x="0" y="5702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63222" y="6415195"/>
            <a:ext cx="4918772" cy="4946688"/>
          </a:xfrm>
          <a:custGeom>
            <a:avLst/>
            <a:gdLst/>
            <a:ahLst/>
            <a:cxnLst/>
            <a:rect r="r" b="b" t="t" l="l"/>
            <a:pathLst>
              <a:path h="4946688" w="4918772">
                <a:moveTo>
                  <a:pt x="0" y="0"/>
                </a:moveTo>
                <a:lnTo>
                  <a:pt x="4918773" y="0"/>
                </a:lnTo>
                <a:lnTo>
                  <a:pt x="4918773" y="4946688"/>
                </a:lnTo>
                <a:lnTo>
                  <a:pt x="0" y="4946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9937" y="-1339432"/>
            <a:ext cx="17149936" cy="3056289"/>
            <a:chOff x="0" y="0"/>
            <a:chExt cx="4516856" cy="804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16856" cy="804949"/>
            </a:xfrm>
            <a:custGeom>
              <a:avLst/>
              <a:gdLst/>
              <a:ahLst/>
              <a:cxnLst/>
              <a:rect r="r" b="b" t="t" l="l"/>
              <a:pathLst>
                <a:path h="804949" w="4516856">
                  <a:moveTo>
                    <a:pt x="19863" y="0"/>
                  </a:moveTo>
                  <a:lnTo>
                    <a:pt x="4496993" y="0"/>
                  </a:lnTo>
                  <a:cubicBezTo>
                    <a:pt x="4502261" y="0"/>
                    <a:pt x="4507313" y="2093"/>
                    <a:pt x="4511038" y="5818"/>
                  </a:cubicBezTo>
                  <a:cubicBezTo>
                    <a:pt x="4514763" y="9543"/>
                    <a:pt x="4516856" y="14595"/>
                    <a:pt x="4516856" y="19863"/>
                  </a:cubicBezTo>
                  <a:lnTo>
                    <a:pt x="4516856" y="785086"/>
                  </a:lnTo>
                  <a:cubicBezTo>
                    <a:pt x="4516856" y="796056"/>
                    <a:pt x="4507963" y="804949"/>
                    <a:pt x="4496993" y="804949"/>
                  </a:cubicBezTo>
                  <a:lnTo>
                    <a:pt x="19863" y="804949"/>
                  </a:lnTo>
                  <a:cubicBezTo>
                    <a:pt x="14595" y="804949"/>
                    <a:pt x="9543" y="802856"/>
                    <a:pt x="5818" y="799131"/>
                  </a:cubicBezTo>
                  <a:cubicBezTo>
                    <a:pt x="2093" y="795406"/>
                    <a:pt x="0" y="790354"/>
                    <a:pt x="0" y="785086"/>
                  </a:cubicBezTo>
                  <a:lnTo>
                    <a:pt x="0" y="19863"/>
                  </a:lnTo>
                  <a:cubicBezTo>
                    <a:pt x="0" y="14595"/>
                    <a:pt x="2093" y="9543"/>
                    <a:pt x="5818" y="5818"/>
                  </a:cubicBezTo>
                  <a:cubicBezTo>
                    <a:pt x="9543" y="2093"/>
                    <a:pt x="14595" y="0"/>
                    <a:pt x="19863" y="0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16856" cy="843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75255" y="157921"/>
            <a:ext cx="17259300" cy="87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</a:pPr>
            <a:r>
              <a:rPr lang="en-US" b="true" sz="5190">
                <a:solidFill>
                  <a:srgbClr val="F8F7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SYSTÈMES EXISTANTS DANS LES RESTAURANTS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23265" y="3596127"/>
            <a:ext cx="10841469" cy="18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Enregistrent ventes et paiements.</a:t>
            </a:r>
          </a:p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Souvent non </a:t>
            </a: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connectés à un back-office complet.</a:t>
            </a:r>
          </a:p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</a:t>
            </a: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de gestion avancée des plats, utilisateurs, ou statistiques.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24211" y="2226398"/>
            <a:ext cx="14439577" cy="73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3"/>
              </a:lnSpc>
            </a:pPr>
            <a:r>
              <a:rPr lang="en-US" b="true" sz="4388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1 - SYSTÈMES DE CAISSE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80405" y="2919999"/>
            <a:ext cx="10470760" cy="228453"/>
          </a:xfrm>
          <a:custGeom>
            <a:avLst/>
            <a:gdLst/>
            <a:ahLst/>
            <a:cxnLst/>
            <a:rect r="r" b="b" t="t" l="l"/>
            <a:pathLst>
              <a:path h="228453" w="10470760">
                <a:moveTo>
                  <a:pt x="0" y="0"/>
                </a:moveTo>
                <a:lnTo>
                  <a:pt x="10470761" y="0"/>
                </a:lnTo>
                <a:lnTo>
                  <a:pt x="10470761" y="228453"/>
                </a:lnTo>
                <a:lnTo>
                  <a:pt x="0" y="228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80405" y="6734665"/>
            <a:ext cx="10470760" cy="228453"/>
          </a:xfrm>
          <a:custGeom>
            <a:avLst/>
            <a:gdLst/>
            <a:ahLst/>
            <a:cxnLst/>
            <a:rect r="r" b="b" t="t" l="l"/>
            <a:pathLst>
              <a:path h="228453" w="10470760">
                <a:moveTo>
                  <a:pt x="0" y="0"/>
                </a:moveTo>
                <a:lnTo>
                  <a:pt x="10470761" y="0"/>
                </a:lnTo>
                <a:lnTo>
                  <a:pt x="10470761" y="228453"/>
                </a:lnTo>
                <a:lnTo>
                  <a:pt x="0" y="228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24211" y="5869428"/>
            <a:ext cx="14439577" cy="73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3"/>
              </a:lnSpc>
            </a:pPr>
            <a:r>
              <a:rPr lang="en-US" b="true" sz="4388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2 - APPLICATIONS EXTERNES DE LIVRAISON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23265" y="7087129"/>
            <a:ext cx="10841469" cy="140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Gèrent uniquement les commandes en ligne</a:t>
            </a: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 marL="581880" indent="-290940" lvl="1">
              <a:lnSpc>
                <a:spcPts val="3773"/>
              </a:lnSpc>
              <a:buFont typeface="Arial"/>
              <a:buChar char="•"/>
            </a:pP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</a:t>
            </a:r>
            <a:r>
              <a:rPr lang="en-US" b="true" sz="2695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d’intégration directe avec la gestion interne du restaurant.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1047" y="6550734"/>
            <a:ext cx="4571444" cy="4546509"/>
          </a:xfrm>
          <a:custGeom>
            <a:avLst/>
            <a:gdLst/>
            <a:ahLst/>
            <a:cxnLst/>
            <a:rect r="r" b="b" t="t" l="l"/>
            <a:pathLst>
              <a:path h="4546509" w="4571444">
                <a:moveTo>
                  <a:pt x="0" y="0"/>
                </a:moveTo>
                <a:lnTo>
                  <a:pt x="4571444" y="0"/>
                </a:lnTo>
                <a:lnTo>
                  <a:pt x="4571444" y="4546510"/>
                </a:lnTo>
                <a:lnTo>
                  <a:pt x="0" y="4546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55551" y="3211709"/>
            <a:ext cx="11611600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Absence d’une solution centralisée.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 de visualisati</a:t>
            </a: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en temps réel des indicateurs (commandes, revenus, stocks).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Redondance des tâches (recopie, double saisie).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auvaise traçabilité (pas de logs, pas d’historique fiable).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Temps perdu dans la coordination entre cuisine, service et gestion.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0315342">
            <a:off x="15154959" y="4191053"/>
            <a:ext cx="4012164" cy="3980285"/>
          </a:xfrm>
          <a:custGeom>
            <a:avLst/>
            <a:gdLst/>
            <a:ahLst/>
            <a:cxnLst/>
            <a:rect r="r" b="b" t="t" l="l"/>
            <a:pathLst>
              <a:path h="3980285" w="4012164">
                <a:moveTo>
                  <a:pt x="0" y="0"/>
                </a:moveTo>
                <a:lnTo>
                  <a:pt x="4012164" y="0"/>
                </a:lnTo>
                <a:lnTo>
                  <a:pt x="4012164" y="3980285"/>
                </a:lnTo>
                <a:lnTo>
                  <a:pt x="0" y="398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16926">
            <a:off x="16689939" y="2227907"/>
            <a:ext cx="3824809" cy="4543510"/>
          </a:xfrm>
          <a:custGeom>
            <a:avLst/>
            <a:gdLst/>
            <a:ahLst/>
            <a:cxnLst/>
            <a:rect r="r" b="b" t="t" l="l"/>
            <a:pathLst>
              <a:path h="4543510" w="3824809">
                <a:moveTo>
                  <a:pt x="0" y="0"/>
                </a:moveTo>
                <a:lnTo>
                  <a:pt x="3824809" y="0"/>
                </a:lnTo>
                <a:lnTo>
                  <a:pt x="3824809" y="4543509"/>
                </a:lnTo>
                <a:lnTo>
                  <a:pt x="0" y="4543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9937" y="-1339432"/>
            <a:ext cx="17149936" cy="3056289"/>
            <a:chOff x="0" y="0"/>
            <a:chExt cx="4516856" cy="804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16856" cy="804949"/>
            </a:xfrm>
            <a:custGeom>
              <a:avLst/>
              <a:gdLst/>
              <a:ahLst/>
              <a:cxnLst/>
              <a:rect r="r" b="b" t="t" l="l"/>
              <a:pathLst>
                <a:path h="804949" w="4516856">
                  <a:moveTo>
                    <a:pt x="19863" y="0"/>
                  </a:moveTo>
                  <a:lnTo>
                    <a:pt x="4496993" y="0"/>
                  </a:lnTo>
                  <a:cubicBezTo>
                    <a:pt x="4502261" y="0"/>
                    <a:pt x="4507313" y="2093"/>
                    <a:pt x="4511038" y="5818"/>
                  </a:cubicBezTo>
                  <a:cubicBezTo>
                    <a:pt x="4514763" y="9543"/>
                    <a:pt x="4516856" y="14595"/>
                    <a:pt x="4516856" y="19863"/>
                  </a:cubicBezTo>
                  <a:lnTo>
                    <a:pt x="4516856" y="785086"/>
                  </a:lnTo>
                  <a:cubicBezTo>
                    <a:pt x="4516856" y="796056"/>
                    <a:pt x="4507963" y="804949"/>
                    <a:pt x="4496993" y="804949"/>
                  </a:cubicBezTo>
                  <a:lnTo>
                    <a:pt x="19863" y="804949"/>
                  </a:lnTo>
                  <a:cubicBezTo>
                    <a:pt x="14595" y="804949"/>
                    <a:pt x="9543" y="802856"/>
                    <a:pt x="5818" y="799131"/>
                  </a:cubicBezTo>
                  <a:cubicBezTo>
                    <a:pt x="2093" y="795406"/>
                    <a:pt x="0" y="790354"/>
                    <a:pt x="0" y="785086"/>
                  </a:cubicBezTo>
                  <a:lnTo>
                    <a:pt x="0" y="19863"/>
                  </a:lnTo>
                  <a:cubicBezTo>
                    <a:pt x="0" y="14595"/>
                    <a:pt x="2093" y="9543"/>
                    <a:pt x="5818" y="5818"/>
                  </a:cubicBezTo>
                  <a:cubicBezTo>
                    <a:pt x="9543" y="2093"/>
                    <a:pt x="14595" y="0"/>
                    <a:pt x="19863" y="0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16856" cy="843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5255" y="157921"/>
            <a:ext cx="17259300" cy="87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</a:pPr>
            <a:r>
              <a:rPr lang="en-US" b="true" sz="5190">
                <a:solidFill>
                  <a:srgbClr val="F8F7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PROBLÈMES IDENTIFIÉS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99105" y="3589409"/>
            <a:ext cx="1161160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Baisse de productivité.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Risque élevé d’erreur dans commandes &amp; facturation.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Décisi</a:t>
            </a: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ons basées sur intuition, pas sur des données.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auvaise expérience client (attente, erreurs, communication lente).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3117720">
            <a:off x="589419" y="5482803"/>
            <a:ext cx="3268083" cy="3242117"/>
          </a:xfrm>
          <a:custGeom>
            <a:avLst/>
            <a:gdLst/>
            <a:ahLst/>
            <a:cxnLst/>
            <a:rect r="r" b="b" t="t" l="l"/>
            <a:pathLst>
              <a:path h="3242117" w="3268083">
                <a:moveTo>
                  <a:pt x="0" y="0"/>
                </a:moveTo>
                <a:lnTo>
                  <a:pt x="3268083" y="0"/>
                </a:lnTo>
                <a:lnTo>
                  <a:pt x="3268083" y="3242117"/>
                </a:lnTo>
                <a:lnTo>
                  <a:pt x="0" y="3242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9303">
            <a:off x="-1107229" y="4920316"/>
            <a:ext cx="3115474" cy="3700887"/>
          </a:xfrm>
          <a:custGeom>
            <a:avLst/>
            <a:gdLst/>
            <a:ahLst/>
            <a:cxnLst/>
            <a:rect r="r" b="b" t="t" l="l"/>
            <a:pathLst>
              <a:path h="3700887" w="3115474">
                <a:moveTo>
                  <a:pt x="0" y="0"/>
                </a:moveTo>
                <a:lnTo>
                  <a:pt x="3115474" y="0"/>
                </a:lnTo>
                <a:lnTo>
                  <a:pt x="3115474" y="3700887"/>
                </a:lnTo>
                <a:lnTo>
                  <a:pt x="0" y="3700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06242" y="5408447"/>
            <a:ext cx="5438120" cy="5468983"/>
          </a:xfrm>
          <a:custGeom>
            <a:avLst/>
            <a:gdLst/>
            <a:ahLst/>
            <a:cxnLst/>
            <a:rect r="r" b="b" t="t" l="l"/>
            <a:pathLst>
              <a:path h="5468983" w="5438120">
                <a:moveTo>
                  <a:pt x="0" y="0"/>
                </a:moveTo>
                <a:lnTo>
                  <a:pt x="5438120" y="0"/>
                </a:lnTo>
                <a:lnTo>
                  <a:pt x="5438120" y="5468983"/>
                </a:lnTo>
                <a:lnTo>
                  <a:pt x="0" y="54689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9937" y="-1339432"/>
            <a:ext cx="17149936" cy="3056289"/>
            <a:chOff x="0" y="0"/>
            <a:chExt cx="4516856" cy="804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16856" cy="804949"/>
            </a:xfrm>
            <a:custGeom>
              <a:avLst/>
              <a:gdLst/>
              <a:ahLst/>
              <a:cxnLst/>
              <a:rect r="r" b="b" t="t" l="l"/>
              <a:pathLst>
                <a:path h="804949" w="4516856">
                  <a:moveTo>
                    <a:pt x="19863" y="0"/>
                  </a:moveTo>
                  <a:lnTo>
                    <a:pt x="4496993" y="0"/>
                  </a:lnTo>
                  <a:cubicBezTo>
                    <a:pt x="4502261" y="0"/>
                    <a:pt x="4507313" y="2093"/>
                    <a:pt x="4511038" y="5818"/>
                  </a:cubicBezTo>
                  <a:cubicBezTo>
                    <a:pt x="4514763" y="9543"/>
                    <a:pt x="4516856" y="14595"/>
                    <a:pt x="4516856" y="19863"/>
                  </a:cubicBezTo>
                  <a:lnTo>
                    <a:pt x="4516856" y="785086"/>
                  </a:lnTo>
                  <a:cubicBezTo>
                    <a:pt x="4516856" y="796056"/>
                    <a:pt x="4507963" y="804949"/>
                    <a:pt x="4496993" y="804949"/>
                  </a:cubicBezTo>
                  <a:lnTo>
                    <a:pt x="19863" y="804949"/>
                  </a:lnTo>
                  <a:cubicBezTo>
                    <a:pt x="14595" y="804949"/>
                    <a:pt x="9543" y="802856"/>
                    <a:pt x="5818" y="799131"/>
                  </a:cubicBezTo>
                  <a:cubicBezTo>
                    <a:pt x="2093" y="795406"/>
                    <a:pt x="0" y="790354"/>
                    <a:pt x="0" y="785086"/>
                  </a:cubicBezTo>
                  <a:lnTo>
                    <a:pt x="0" y="19863"/>
                  </a:lnTo>
                  <a:cubicBezTo>
                    <a:pt x="0" y="14595"/>
                    <a:pt x="2093" y="9543"/>
                    <a:pt x="5818" y="5818"/>
                  </a:cubicBezTo>
                  <a:cubicBezTo>
                    <a:pt x="9543" y="2093"/>
                    <a:pt x="14595" y="0"/>
                    <a:pt x="19863" y="0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16856" cy="843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5255" y="157921"/>
            <a:ext cx="17259300" cy="87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</a:pPr>
            <a:r>
              <a:rPr lang="en-US" b="true" sz="5190">
                <a:solidFill>
                  <a:srgbClr val="F8F7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PROBLÈMES IDENTIFIÉS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57983" y="2215591"/>
            <a:ext cx="11611600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Une plateforme centralisée unique.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 tableau de bord dynamique avec statistiqu</a:t>
            </a: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 en temps réel.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Une base de données cohérente 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Commandes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Employés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Stocks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Automatisation (totaux, mises à jour, vue globale).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Interface simple et moderne accessible à tous les employés.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3690458">
            <a:off x="608701" y="3255542"/>
            <a:ext cx="2852486" cy="2829822"/>
          </a:xfrm>
          <a:custGeom>
            <a:avLst/>
            <a:gdLst/>
            <a:ahLst/>
            <a:cxnLst/>
            <a:rect r="r" b="b" t="t" l="l"/>
            <a:pathLst>
              <a:path h="2829822" w="2852486">
                <a:moveTo>
                  <a:pt x="0" y="0"/>
                </a:moveTo>
                <a:lnTo>
                  <a:pt x="2852487" y="0"/>
                </a:lnTo>
                <a:lnTo>
                  <a:pt x="2852487" y="2829822"/>
                </a:lnTo>
                <a:lnTo>
                  <a:pt x="0" y="282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92041">
            <a:off x="-802545" y="2511986"/>
            <a:ext cx="2719284" cy="3230251"/>
          </a:xfrm>
          <a:custGeom>
            <a:avLst/>
            <a:gdLst/>
            <a:ahLst/>
            <a:cxnLst/>
            <a:rect r="r" b="b" t="t" l="l"/>
            <a:pathLst>
              <a:path h="3230251" w="2719284">
                <a:moveTo>
                  <a:pt x="0" y="0"/>
                </a:moveTo>
                <a:lnTo>
                  <a:pt x="2719284" y="0"/>
                </a:lnTo>
                <a:lnTo>
                  <a:pt x="2719284" y="3230251"/>
                </a:lnTo>
                <a:lnTo>
                  <a:pt x="0" y="32302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59335" y="6810326"/>
            <a:ext cx="4868319" cy="4895948"/>
          </a:xfrm>
          <a:custGeom>
            <a:avLst/>
            <a:gdLst/>
            <a:ahLst/>
            <a:cxnLst/>
            <a:rect r="r" b="b" t="t" l="l"/>
            <a:pathLst>
              <a:path h="4895948" w="4868319">
                <a:moveTo>
                  <a:pt x="0" y="0"/>
                </a:moveTo>
                <a:lnTo>
                  <a:pt x="4868319" y="0"/>
                </a:lnTo>
                <a:lnTo>
                  <a:pt x="4868319" y="4895948"/>
                </a:lnTo>
                <a:lnTo>
                  <a:pt x="0" y="4895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9937" y="-1339432"/>
            <a:ext cx="17149936" cy="3056289"/>
            <a:chOff x="0" y="0"/>
            <a:chExt cx="4516856" cy="804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16856" cy="804949"/>
            </a:xfrm>
            <a:custGeom>
              <a:avLst/>
              <a:gdLst/>
              <a:ahLst/>
              <a:cxnLst/>
              <a:rect r="r" b="b" t="t" l="l"/>
              <a:pathLst>
                <a:path h="804949" w="4516856">
                  <a:moveTo>
                    <a:pt x="19863" y="0"/>
                  </a:moveTo>
                  <a:lnTo>
                    <a:pt x="4496993" y="0"/>
                  </a:lnTo>
                  <a:cubicBezTo>
                    <a:pt x="4502261" y="0"/>
                    <a:pt x="4507313" y="2093"/>
                    <a:pt x="4511038" y="5818"/>
                  </a:cubicBezTo>
                  <a:cubicBezTo>
                    <a:pt x="4514763" y="9543"/>
                    <a:pt x="4516856" y="14595"/>
                    <a:pt x="4516856" y="19863"/>
                  </a:cubicBezTo>
                  <a:lnTo>
                    <a:pt x="4516856" y="785086"/>
                  </a:lnTo>
                  <a:cubicBezTo>
                    <a:pt x="4516856" y="796056"/>
                    <a:pt x="4507963" y="804949"/>
                    <a:pt x="4496993" y="804949"/>
                  </a:cubicBezTo>
                  <a:lnTo>
                    <a:pt x="19863" y="804949"/>
                  </a:lnTo>
                  <a:cubicBezTo>
                    <a:pt x="14595" y="804949"/>
                    <a:pt x="9543" y="802856"/>
                    <a:pt x="5818" y="799131"/>
                  </a:cubicBezTo>
                  <a:cubicBezTo>
                    <a:pt x="2093" y="795406"/>
                    <a:pt x="0" y="790354"/>
                    <a:pt x="0" y="785086"/>
                  </a:cubicBezTo>
                  <a:lnTo>
                    <a:pt x="0" y="19863"/>
                  </a:lnTo>
                  <a:cubicBezTo>
                    <a:pt x="0" y="14595"/>
                    <a:pt x="2093" y="9543"/>
                    <a:pt x="5818" y="5818"/>
                  </a:cubicBezTo>
                  <a:cubicBezTo>
                    <a:pt x="9543" y="2093"/>
                    <a:pt x="14595" y="0"/>
                    <a:pt x="19863" y="0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16856" cy="843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5255" y="157921"/>
            <a:ext cx="17259300" cy="87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</a:pPr>
            <a:r>
              <a:rPr lang="en-US" b="true" sz="5190">
                <a:solidFill>
                  <a:srgbClr val="F8F7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BESOINS IDENTIFIÉS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99105" y="3389112"/>
            <a:ext cx="1161160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Peu personnalisables.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Imposs</a:t>
            </a: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ible d’ajouter des modules (clients, employés, reporting).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Abse</a:t>
            </a: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nce de gestion fine des rôles et permissions.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Intégr</a:t>
            </a:r>
            <a:r>
              <a:rPr lang="en-US" b="true" sz="3000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ation quasi nulle entre stock, plats et commandes.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3117720">
            <a:off x="589419" y="5482803"/>
            <a:ext cx="3268083" cy="3242117"/>
          </a:xfrm>
          <a:custGeom>
            <a:avLst/>
            <a:gdLst/>
            <a:ahLst/>
            <a:cxnLst/>
            <a:rect r="r" b="b" t="t" l="l"/>
            <a:pathLst>
              <a:path h="3242117" w="3268083">
                <a:moveTo>
                  <a:pt x="0" y="0"/>
                </a:moveTo>
                <a:lnTo>
                  <a:pt x="3268083" y="0"/>
                </a:lnTo>
                <a:lnTo>
                  <a:pt x="3268083" y="3242117"/>
                </a:lnTo>
                <a:lnTo>
                  <a:pt x="0" y="3242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9303">
            <a:off x="-1107229" y="4920316"/>
            <a:ext cx="3115474" cy="3700887"/>
          </a:xfrm>
          <a:custGeom>
            <a:avLst/>
            <a:gdLst/>
            <a:ahLst/>
            <a:cxnLst/>
            <a:rect r="r" b="b" t="t" l="l"/>
            <a:pathLst>
              <a:path h="3700887" w="3115474">
                <a:moveTo>
                  <a:pt x="0" y="0"/>
                </a:moveTo>
                <a:lnTo>
                  <a:pt x="3115474" y="0"/>
                </a:lnTo>
                <a:lnTo>
                  <a:pt x="3115474" y="3700887"/>
                </a:lnTo>
                <a:lnTo>
                  <a:pt x="0" y="3700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06242" y="5408447"/>
            <a:ext cx="5438120" cy="5468983"/>
          </a:xfrm>
          <a:custGeom>
            <a:avLst/>
            <a:gdLst/>
            <a:ahLst/>
            <a:cxnLst/>
            <a:rect r="r" b="b" t="t" l="l"/>
            <a:pathLst>
              <a:path h="5468983" w="5438120">
                <a:moveTo>
                  <a:pt x="0" y="0"/>
                </a:moveTo>
                <a:lnTo>
                  <a:pt x="5438120" y="0"/>
                </a:lnTo>
                <a:lnTo>
                  <a:pt x="5438120" y="5468983"/>
                </a:lnTo>
                <a:lnTo>
                  <a:pt x="0" y="54689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9937" y="-1339432"/>
            <a:ext cx="17149936" cy="3056289"/>
            <a:chOff x="0" y="0"/>
            <a:chExt cx="4516856" cy="804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16856" cy="804949"/>
            </a:xfrm>
            <a:custGeom>
              <a:avLst/>
              <a:gdLst/>
              <a:ahLst/>
              <a:cxnLst/>
              <a:rect r="r" b="b" t="t" l="l"/>
              <a:pathLst>
                <a:path h="804949" w="4516856">
                  <a:moveTo>
                    <a:pt x="19863" y="0"/>
                  </a:moveTo>
                  <a:lnTo>
                    <a:pt x="4496993" y="0"/>
                  </a:lnTo>
                  <a:cubicBezTo>
                    <a:pt x="4502261" y="0"/>
                    <a:pt x="4507313" y="2093"/>
                    <a:pt x="4511038" y="5818"/>
                  </a:cubicBezTo>
                  <a:cubicBezTo>
                    <a:pt x="4514763" y="9543"/>
                    <a:pt x="4516856" y="14595"/>
                    <a:pt x="4516856" y="19863"/>
                  </a:cubicBezTo>
                  <a:lnTo>
                    <a:pt x="4516856" y="785086"/>
                  </a:lnTo>
                  <a:cubicBezTo>
                    <a:pt x="4516856" y="796056"/>
                    <a:pt x="4507963" y="804949"/>
                    <a:pt x="4496993" y="804949"/>
                  </a:cubicBezTo>
                  <a:lnTo>
                    <a:pt x="19863" y="804949"/>
                  </a:lnTo>
                  <a:cubicBezTo>
                    <a:pt x="14595" y="804949"/>
                    <a:pt x="9543" y="802856"/>
                    <a:pt x="5818" y="799131"/>
                  </a:cubicBezTo>
                  <a:cubicBezTo>
                    <a:pt x="2093" y="795406"/>
                    <a:pt x="0" y="790354"/>
                    <a:pt x="0" y="785086"/>
                  </a:cubicBezTo>
                  <a:lnTo>
                    <a:pt x="0" y="19863"/>
                  </a:lnTo>
                  <a:cubicBezTo>
                    <a:pt x="0" y="14595"/>
                    <a:pt x="2093" y="9543"/>
                    <a:pt x="5818" y="5818"/>
                  </a:cubicBezTo>
                  <a:cubicBezTo>
                    <a:pt x="9543" y="2093"/>
                    <a:pt x="14595" y="0"/>
                    <a:pt x="19863" y="0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16856" cy="843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5255" y="157921"/>
            <a:ext cx="17259300" cy="87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7"/>
              </a:lnSpc>
            </a:pPr>
            <a:r>
              <a:rPr lang="en-US" b="true" sz="5190">
                <a:solidFill>
                  <a:srgbClr val="F8F7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LIMITES DES SOLUTIONS ACTUELLES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3868" y="-1401031"/>
            <a:ext cx="7420043" cy="3367226"/>
            <a:chOff x="0" y="0"/>
            <a:chExt cx="1773790" cy="804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3790" cy="804949"/>
            </a:xfrm>
            <a:custGeom>
              <a:avLst/>
              <a:gdLst/>
              <a:ahLst/>
              <a:cxnLst/>
              <a:rect r="r" b="b" t="t" l="l"/>
              <a:pathLst>
                <a:path h="804949" w="1773790">
                  <a:moveTo>
                    <a:pt x="45909" y="0"/>
                  </a:moveTo>
                  <a:lnTo>
                    <a:pt x="1727882" y="0"/>
                  </a:lnTo>
                  <a:cubicBezTo>
                    <a:pt x="1740057" y="0"/>
                    <a:pt x="1751734" y="4837"/>
                    <a:pt x="1760344" y="13446"/>
                  </a:cubicBezTo>
                  <a:cubicBezTo>
                    <a:pt x="1768953" y="22056"/>
                    <a:pt x="1773790" y="33733"/>
                    <a:pt x="1773790" y="45909"/>
                  </a:cubicBezTo>
                  <a:lnTo>
                    <a:pt x="1773790" y="759040"/>
                  </a:lnTo>
                  <a:cubicBezTo>
                    <a:pt x="1773790" y="771216"/>
                    <a:pt x="1768953" y="782893"/>
                    <a:pt x="1760344" y="791502"/>
                  </a:cubicBezTo>
                  <a:cubicBezTo>
                    <a:pt x="1751734" y="800112"/>
                    <a:pt x="1740057" y="804949"/>
                    <a:pt x="1727882" y="804949"/>
                  </a:cubicBezTo>
                  <a:lnTo>
                    <a:pt x="45909" y="804949"/>
                  </a:lnTo>
                  <a:cubicBezTo>
                    <a:pt x="33733" y="804949"/>
                    <a:pt x="22056" y="800112"/>
                    <a:pt x="13446" y="791502"/>
                  </a:cubicBezTo>
                  <a:cubicBezTo>
                    <a:pt x="4837" y="782893"/>
                    <a:pt x="0" y="771216"/>
                    <a:pt x="0" y="759040"/>
                  </a:cubicBezTo>
                  <a:lnTo>
                    <a:pt x="0" y="45909"/>
                  </a:lnTo>
                  <a:cubicBezTo>
                    <a:pt x="0" y="33733"/>
                    <a:pt x="4837" y="22056"/>
                    <a:pt x="13446" y="13446"/>
                  </a:cubicBezTo>
                  <a:cubicBezTo>
                    <a:pt x="22056" y="4837"/>
                    <a:pt x="33733" y="0"/>
                    <a:pt x="45909" y="0"/>
                  </a:cubicBezTo>
                  <a:close/>
                </a:path>
              </a:pathLst>
            </a:custGeom>
            <a:solidFill>
              <a:srgbClr val="5445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73790" cy="843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5709" y="6341361"/>
            <a:ext cx="5865873" cy="5833878"/>
          </a:xfrm>
          <a:custGeom>
            <a:avLst/>
            <a:gdLst/>
            <a:ahLst/>
            <a:cxnLst/>
            <a:rect r="r" b="b" t="t" l="l"/>
            <a:pathLst>
              <a:path h="5833878" w="5865873">
                <a:moveTo>
                  <a:pt x="0" y="0"/>
                </a:moveTo>
                <a:lnTo>
                  <a:pt x="5865873" y="0"/>
                </a:lnTo>
                <a:lnTo>
                  <a:pt x="5865873" y="5833878"/>
                </a:lnTo>
                <a:lnTo>
                  <a:pt x="0" y="5833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21599" y="2863415"/>
            <a:ext cx="5679597" cy="5711830"/>
          </a:xfrm>
          <a:custGeom>
            <a:avLst/>
            <a:gdLst/>
            <a:ahLst/>
            <a:cxnLst/>
            <a:rect r="r" b="b" t="t" l="l"/>
            <a:pathLst>
              <a:path h="5711830" w="5679597">
                <a:moveTo>
                  <a:pt x="0" y="0"/>
                </a:moveTo>
                <a:lnTo>
                  <a:pt x="5679596" y="0"/>
                </a:lnTo>
                <a:lnTo>
                  <a:pt x="5679596" y="5711830"/>
                </a:lnTo>
                <a:lnTo>
                  <a:pt x="0" y="5711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380423"/>
            <a:ext cx="18288000" cy="114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9"/>
              </a:lnSpc>
            </a:pPr>
            <a:r>
              <a:rPr lang="en-US" b="true" sz="6720">
                <a:solidFill>
                  <a:srgbClr val="F8F7F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31314" y="2796740"/>
            <a:ext cx="10290285" cy="561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950" indent="-341975" lvl="1">
              <a:lnSpc>
                <a:spcPts val="4435"/>
              </a:lnSpc>
              <a:buFont typeface="Arial"/>
              <a:buChar char="•"/>
            </a:pPr>
            <a:r>
              <a:rPr lang="en-US" sz="3167">
                <a:solidFill>
                  <a:srgbClr val="544541"/>
                </a:solidFill>
                <a:latin typeface="Montserrat"/>
                <a:ea typeface="Montserrat"/>
                <a:cs typeface="Montserrat"/>
                <a:sym typeface="Montserrat"/>
              </a:rPr>
              <a:t>L’existant fonctionne mais n’est pas optimisé.</a:t>
            </a:r>
          </a:p>
          <a:p>
            <a:pPr algn="l" marL="683950" indent="-341975" lvl="1">
              <a:lnSpc>
                <a:spcPts val="4435"/>
              </a:lnSpc>
              <a:buFont typeface="Arial"/>
              <a:buChar char="•"/>
            </a:pPr>
            <a:r>
              <a:rPr lang="en-US" sz="3167">
                <a:solidFill>
                  <a:srgbClr val="544541"/>
                </a:solidFill>
                <a:latin typeface="Montserrat"/>
                <a:ea typeface="Montserrat"/>
                <a:cs typeface="Montserrat"/>
                <a:sym typeface="Montserrat"/>
              </a:rPr>
              <a:t>Une solution intégrée permettrait :</a:t>
            </a:r>
          </a:p>
          <a:p>
            <a:pPr algn="l" marL="683950" indent="-341975" lvl="1">
              <a:lnSpc>
                <a:spcPts val="4435"/>
              </a:lnSpc>
              <a:buFont typeface="Arial"/>
              <a:buChar char="•"/>
            </a:pPr>
            <a:r>
              <a:rPr lang="en-US" sz="3167">
                <a:solidFill>
                  <a:srgbClr val="544541"/>
                </a:solidFill>
                <a:latin typeface="Montserrat"/>
                <a:ea typeface="Montserrat"/>
                <a:cs typeface="Montserrat"/>
                <a:sym typeface="Montserrat"/>
              </a:rPr>
              <a:t>Gain de temps</a:t>
            </a:r>
          </a:p>
          <a:p>
            <a:pPr algn="l" marL="683950" indent="-341975" lvl="1">
              <a:lnSpc>
                <a:spcPts val="4435"/>
              </a:lnSpc>
              <a:buFont typeface="Arial"/>
              <a:buChar char="•"/>
            </a:pPr>
            <a:r>
              <a:rPr lang="en-US" sz="3167">
                <a:solidFill>
                  <a:srgbClr val="544541"/>
                </a:solidFill>
                <a:latin typeface="Montserrat"/>
                <a:ea typeface="Montserrat"/>
                <a:cs typeface="Montserrat"/>
                <a:sym typeface="Montserrat"/>
              </a:rPr>
              <a:t>Moins d’erreurs</a:t>
            </a:r>
          </a:p>
          <a:p>
            <a:pPr algn="l" marL="683950" indent="-341975" lvl="1">
              <a:lnSpc>
                <a:spcPts val="4435"/>
              </a:lnSpc>
              <a:buFont typeface="Arial"/>
              <a:buChar char="•"/>
            </a:pPr>
            <a:r>
              <a:rPr lang="en-US" sz="3167">
                <a:solidFill>
                  <a:srgbClr val="544541"/>
                </a:solidFill>
                <a:latin typeface="Montserrat"/>
                <a:ea typeface="Montserrat"/>
                <a:cs typeface="Montserrat"/>
                <a:sym typeface="Montserrat"/>
              </a:rPr>
              <a:t>Vision complète du restaurant</a:t>
            </a:r>
          </a:p>
          <a:p>
            <a:pPr algn="l" marL="683950" indent="-341975" lvl="1">
              <a:lnSpc>
                <a:spcPts val="4435"/>
              </a:lnSpc>
              <a:buFont typeface="Arial"/>
              <a:buChar char="•"/>
            </a:pPr>
            <a:r>
              <a:rPr lang="en-US" sz="3167">
                <a:solidFill>
                  <a:srgbClr val="544541"/>
                </a:solidFill>
                <a:latin typeface="Montserrat"/>
                <a:ea typeface="Montserrat"/>
                <a:cs typeface="Montserrat"/>
                <a:sym typeface="Montserrat"/>
              </a:rPr>
              <a:t>Amélioration de l’expérience client</a:t>
            </a:r>
          </a:p>
          <a:p>
            <a:pPr algn="l" marL="683950" indent="-341975" lvl="1">
              <a:lnSpc>
                <a:spcPts val="4435"/>
              </a:lnSpc>
              <a:buFont typeface="Arial"/>
              <a:buChar char="•"/>
            </a:pPr>
            <a:r>
              <a:rPr lang="en-US" sz="3167">
                <a:solidFill>
                  <a:srgbClr val="544541"/>
                </a:solidFill>
                <a:latin typeface="Montserrat"/>
                <a:ea typeface="Montserrat"/>
                <a:cs typeface="Montserrat"/>
                <a:sym typeface="Montserrat"/>
              </a:rPr>
              <a:t>L’étude de l’existant justifie le besoin d’un dashboard moderne + base de données structurée.</a:t>
            </a:r>
          </a:p>
          <a:p>
            <a:pPr algn="l">
              <a:lnSpc>
                <a:spcPts val="443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4875853">
            <a:off x="90676" y="24960"/>
            <a:ext cx="3451299" cy="3423876"/>
          </a:xfrm>
          <a:custGeom>
            <a:avLst/>
            <a:gdLst/>
            <a:ahLst/>
            <a:cxnLst/>
            <a:rect r="r" b="b" t="t" l="l"/>
            <a:pathLst>
              <a:path h="3423876" w="3451299">
                <a:moveTo>
                  <a:pt x="0" y="0"/>
                </a:moveTo>
                <a:lnTo>
                  <a:pt x="3451299" y="0"/>
                </a:lnTo>
                <a:lnTo>
                  <a:pt x="3451299" y="3423876"/>
                </a:lnTo>
                <a:lnTo>
                  <a:pt x="0" y="342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877437">
            <a:off x="-1289358" y="-1440411"/>
            <a:ext cx="3290134" cy="3908367"/>
          </a:xfrm>
          <a:custGeom>
            <a:avLst/>
            <a:gdLst/>
            <a:ahLst/>
            <a:cxnLst/>
            <a:rect r="r" b="b" t="t" l="l"/>
            <a:pathLst>
              <a:path h="3908367" w="3290134">
                <a:moveTo>
                  <a:pt x="0" y="0"/>
                </a:moveTo>
                <a:lnTo>
                  <a:pt x="3290134" y="0"/>
                </a:lnTo>
                <a:lnTo>
                  <a:pt x="3290134" y="3908367"/>
                </a:lnTo>
                <a:lnTo>
                  <a:pt x="0" y="39083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2194" y="5179491"/>
            <a:ext cx="6883394" cy="6845849"/>
          </a:xfrm>
          <a:custGeom>
            <a:avLst/>
            <a:gdLst/>
            <a:ahLst/>
            <a:cxnLst/>
            <a:rect r="r" b="b" t="t" l="l"/>
            <a:pathLst>
              <a:path h="6845849" w="6883394">
                <a:moveTo>
                  <a:pt x="0" y="0"/>
                </a:moveTo>
                <a:lnTo>
                  <a:pt x="6883395" y="0"/>
                </a:lnTo>
                <a:lnTo>
                  <a:pt x="6883395" y="6845848"/>
                </a:lnTo>
                <a:lnTo>
                  <a:pt x="0" y="6845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53859" y="-2023390"/>
            <a:ext cx="6718842" cy="6756974"/>
          </a:xfrm>
          <a:custGeom>
            <a:avLst/>
            <a:gdLst/>
            <a:ahLst/>
            <a:cxnLst/>
            <a:rect r="r" b="b" t="t" l="l"/>
            <a:pathLst>
              <a:path h="6756974" w="6718842">
                <a:moveTo>
                  <a:pt x="0" y="0"/>
                </a:moveTo>
                <a:lnTo>
                  <a:pt x="6718842" y="0"/>
                </a:lnTo>
                <a:lnTo>
                  <a:pt x="6718842" y="6756974"/>
                </a:lnTo>
                <a:lnTo>
                  <a:pt x="0" y="6756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05101" y="3567510"/>
            <a:ext cx="6677797" cy="224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77"/>
              </a:lnSpc>
            </a:pPr>
            <a:r>
              <a:rPr lang="en-US" b="true" sz="13126">
                <a:solidFill>
                  <a:srgbClr val="5445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MERCI 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570725">
            <a:off x="726695" y="6634640"/>
            <a:ext cx="4012164" cy="3980285"/>
          </a:xfrm>
          <a:custGeom>
            <a:avLst/>
            <a:gdLst/>
            <a:ahLst/>
            <a:cxnLst/>
            <a:rect r="r" b="b" t="t" l="l"/>
            <a:pathLst>
              <a:path h="3980285" w="4012164">
                <a:moveTo>
                  <a:pt x="0" y="0"/>
                </a:moveTo>
                <a:lnTo>
                  <a:pt x="4012164" y="0"/>
                </a:lnTo>
                <a:lnTo>
                  <a:pt x="4012164" y="3980285"/>
                </a:lnTo>
                <a:lnTo>
                  <a:pt x="0" y="39802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72309">
            <a:off x="-1240943" y="5631378"/>
            <a:ext cx="3419424" cy="4061951"/>
          </a:xfrm>
          <a:custGeom>
            <a:avLst/>
            <a:gdLst/>
            <a:ahLst/>
            <a:cxnLst/>
            <a:rect r="r" b="b" t="t" l="l"/>
            <a:pathLst>
              <a:path h="4061951" w="3419424">
                <a:moveTo>
                  <a:pt x="0" y="0"/>
                </a:moveTo>
                <a:lnTo>
                  <a:pt x="3419424" y="0"/>
                </a:lnTo>
                <a:lnTo>
                  <a:pt x="3419424" y="4061951"/>
                </a:lnTo>
                <a:lnTo>
                  <a:pt x="0" y="4061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05101" y="5740659"/>
            <a:ext cx="6677797" cy="145697"/>
          </a:xfrm>
          <a:custGeom>
            <a:avLst/>
            <a:gdLst/>
            <a:ahLst/>
            <a:cxnLst/>
            <a:rect r="r" b="b" t="t" l="l"/>
            <a:pathLst>
              <a:path h="145697" w="6677797">
                <a:moveTo>
                  <a:pt x="0" y="0"/>
                </a:moveTo>
                <a:lnTo>
                  <a:pt x="6677798" y="0"/>
                </a:lnTo>
                <a:lnTo>
                  <a:pt x="6677798" y="145698"/>
                </a:lnTo>
                <a:lnTo>
                  <a:pt x="0" y="1456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DAG5UZIB-cM</dc:identifier>
  <dcterms:modified xsi:type="dcterms:W3CDTF">2011-08-01T06:04:30Z</dcterms:modified>
  <cp:revision>1</cp:revision>
  <dc:title>Marron beige rose Formes abstraites Benchmark Présentation</dc:title>
</cp:coreProperties>
</file>