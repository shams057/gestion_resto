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Be Vietnam" charset="1" panose="00000500000000000000"/>
      <p:regular r:id="rId17"/>
    </p:embeddedFont>
    <p:embeddedFont>
      <p:font typeface="Roca Two Bold" charset="1" panose="00000800000000000000"/>
      <p:regular r:id="rId18"/>
    </p:embeddedFont>
    <p:embeddedFont>
      <p:font typeface="Roca Two" charset="1" panose="00000500000000000000"/>
      <p:regular r:id="rId19"/>
    </p:embeddedFont>
    <p:embeddedFont>
      <p:font typeface="Be Vietnam Ultra-Bold" charset="1" panose="000009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29875" y="666750"/>
            <a:ext cx="7191375" cy="8953500"/>
            <a:chOff x="0" y="0"/>
            <a:chExt cx="1274296" cy="15865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4296" cy="1586541"/>
            </a:xfrm>
            <a:custGeom>
              <a:avLst/>
              <a:gdLst/>
              <a:ahLst/>
              <a:cxnLst/>
              <a:rect r="r" b="b" t="t" l="l"/>
              <a:pathLst>
                <a:path h="1586541" w="1274296">
                  <a:moveTo>
                    <a:pt x="29067" y="0"/>
                  </a:moveTo>
                  <a:lnTo>
                    <a:pt x="1245229" y="0"/>
                  </a:lnTo>
                  <a:cubicBezTo>
                    <a:pt x="1261283" y="0"/>
                    <a:pt x="1274296" y="13014"/>
                    <a:pt x="1274296" y="29067"/>
                  </a:cubicBezTo>
                  <a:lnTo>
                    <a:pt x="1274296" y="1557474"/>
                  </a:lnTo>
                  <a:cubicBezTo>
                    <a:pt x="1274296" y="1565183"/>
                    <a:pt x="1271234" y="1572576"/>
                    <a:pt x="1265783" y="1578028"/>
                  </a:cubicBezTo>
                  <a:cubicBezTo>
                    <a:pt x="1260332" y="1583479"/>
                    <a:pt x="1252938" y="1586541"/>
                    <a:pt x="1245229" y="1586541"/>
                  </a:cubicBezTo>
                  <a:lnTo>
                    <a:pt x="29067" y="1586541"/>
                  </a:lnTo>
                  <a:cubicBezTo>
                    <a:pt x="21358" y="1586541"/>
                    <a:pt x="13965" y="1583479"/>
                    <a:pt x="8514" y="1578028"/>
                  </a:cubicBezTo>
                  <a:cubicBezTo>
                    <a:pt x="3062" y="1572576"/>
                    <a:pt x="0" y="1565183"/>
                    <a:pt x="0" y="1557474"/>
                  </a:cubicBezTo>
                  <a:lnTo>
                    <a:pt x="0" y="29067"/>
                  </a:lnTo>
                  <a:cubicBezTo>
                    <a:pt x="0" y="21358"/>
                    <a:pt x="3062" y="13965"/>
                    <a:pt x="8514" y="8514"/>
                  </a:cubicBezTo>
                  <a:cubicBezTo>
                    <a:pt x="13965" y="3062"/>
                    <a:pt x="21358" y="0"/>
                    <a:pt x="29067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653020"/>
            <a:ext cx="8324850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spc="55">
                <a:solidFill>
                  <a:srgbClr val="E8EAF6"/>
                </a:solidFill>
                <a:latin typeface="Be Vietnam"/>
                <a:ea typeface="Be Vietnam"/>
                <a:cs typeface="Be Vietnam"/>
                <a:sym typeface="Be Vietnam"/>
              </a:rPr>
              <a:t>PRÉSENTER PAR:</a:t>
            </a:r>
          </a:p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E8EAF6"/>
                </a:solidFill>
                <a:latin typeface="Be Vietnam"/>
                <a:ea typeface="Be Vietnam"/>
                <a:cs typeface="Be Vietnam"/>
                <a:sym typeface="Be Vietnam"/>
              </a:rPr>
              <a:t>NASFI MOHAMED SHAMSEDDINE</a:t>
            </a:r>
          </a:p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E8EAF6"/>
                </a:solidFill>
                <a:latin typeface="Be Vietnam"/>
                <a:ea typeface="Be Vietnam"/>
                <a:cs typeface="Be Vietnam"/>
                <a:sym typeface="Be Vietnam"/>
              </a:rPr>
              <a:t>LINA BEN ROMDHANE</a:t>
            </a:r>
          </a:p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E8EAF6"/>
                </a:solidFill>
                <a:latin typeface="Be Vietnam"/>
                <a:ea typeface="Be Vietnam"/>
                <a:cs typeface="Be Vietnam"/>
                <a:sym typeface="Be Vietnam"/>
              </a:rPr>
              <a:t>ADEM KALLEL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619125"/>
            <a:ext cx="8324850" cy="47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24"/>
              </a:lnSpc>
              <a:spcBef>
                <a:spcPct val="0"/>
              </a:spcBef>
            </a:pPr>
            <a:r>
              <a:rPr lang="en-US" b="true" sz="2803">
                <a:solidFill>
                  <a:srgbClr val="C5CAE9"/>
                </a:solidFill>
                <a:latin typeface="Roca Two Bold"/>
                <a:ea typeface="Roca Two Bold"/>
                <a:cs typeface="Roca Two Bold"/>
                <a:sym typeface="Roca Two Bold"/>
              </a:rPr>
              <a:t>WEB PROJECT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66750" y="2611528"/>
            <a:ext cx="8324850" cy="3577966"/>
            <a:chOff x="0" y="0"/>
            <a:chExt cx="11099800" cy="477062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209550"/>
              <a:ext cx="11099800" cy="3757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0650"/>
                </a:lnSpc>
              </a:pPr>
              <a:r>
                <a:rPr lang="en-US" sz="10650">
                  <a:solidFill>
                    <a:srgbClr val="E8EAF6"/>
                  </a:solidFill>
                  <a:latin typeface="Roca Two"/>
                  <a:ea typeface="Roca Two"/>
                  <a:cs typeface="Roca Two"/>
                  <a:sym typeface="Roca Two"/>
                </a:rPr>
                <a:t>Gestion de Restaurant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4309308" y="4058908"/>
              <a:ext cx="707832" cy="711714"/>
            </a:xfrm>
            <a:custGeom>
              <a:avLst/>
              <a:gdLst/>
              <a:ahLst/>
              <a:cxnLst/>
              <a:rect r="r" b="b" t="t" l="l"/>
              <a:pathLst>
                <a:path h="711714" w="707832">
                  <a:moveTo>
                    <a:pt x="0" y="0"/>
                  </a:moveTo>
                  <a:lnTo>
                    <a:pt x="707832" y="0"/>
                  </a:lnTo>
                  <a:lnTo>
                    <a:pt x="707832" y="711714"/>
                  </a:lnTo>
                  <a:lnTo>
                    <a:pt x="0" y="7117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5194079" y="4058908"/>
              <a:ext cx="707832" cy="711714"/>
            </a:xfrm>
            <a:custGeom>
              <a:avLst/>
              <a:gdLst/>
              <a:ahLst/>
              <a:cxnLst/>
              <a:rect r="r" b="b" t="t" l="l"/>
              <a:pathLst>
                <a:path h="711714" w="707832">
                  <a:moveTo>
                    <a:pt x="0" y="0"/>
                  </a:moveTo>
                  <a:lnTo>
                    <a:pt x="707832" y="0"/>
                  </a:lnTo>
                  <a:lnTo>
                    <a:pt x="707832" y="711714"/>
                  </a:lnTo>
                  <a:lnTo>
                    <a:pt x="0" y="7117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082660" y="4058908"/>
              <a:ext cx="707832" cy="711714"/>
            </a:xfrm>
            <a:custGeom>
              <a:avLst/>
              <a:gdLst/>
              <a:ahLst/>
              <a:cxnLst/>
              <a:rect r="r" b="b" t="t" l="l"/>
              <a:pathLst>
                <a:path h="711714" w="707832">
                  <a:moveTo>
                    <a:pt x="0" y="0"/>
                  </a:moveTo>
                  <a:lnTo>
                    <a:pt x="707832" y="0"/>
                  </a:lnTo>
                  <a:lnTo>
                    <a:pt x="707832" y="711714"/>
                  </a:lnTo>
                  <a:lnTo>
                    <a:pt x="0" y="7117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35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70263" y="8060757"/>
            <a:ext cx="1550987" cy="1559493"/>
          </a:xfrm>
          <a:custGeom>
            <a:avLst/>
            <a:gdLst/>
            <a:ahLst/>
            <a:cxnLst/>
            <a:rect r="r" b="b" t="t" l="l"/>
            <a:pathLst>
              <a:path h="1559493" w="1550987">
                <a:moveTo>
                  <a:pt x="0" y="0"/>
                </a:moveTo>
                <a:lnTo>
                  <a:pt x="1550987" y="0"/>
                </a:lnTo>
                <a:lnTo>
                  <a:pt x="1550987" y="1559493"/>
                </a:lnTo>
                <a:lnTo>
                  <a:pt x="0" y="1559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19156" y="8060757"/>
            <a:ext cx="1775820" cy="1559493"/>
          </a:xfrm>
          <a:custGeom>
            <a:avLst/>
            <a:gdLst/>
            <a:ahLst/>
            <a:cxnLst/>
            <a:rect r="r" b="b" t="t" l="l"/>
            <a:pathLst>
              <a:path h="1559493" w="1775820">
                <a:moveTo>
                  <a:pt x="0" y="0"/>
                </a:moveTo>
                <a:lnTo>
                  <a:pt x="1775820" y="0"/>
                </a:lnTo>
                <a:lnTo>
                  <a:pt x="1775820" y="1559493"/>
                </a:lnTo>
                <a:lnTo>
                  <a:pt x="0" y="15594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750" y="666750"/>
            <a:ext cx="10067925" cy="2867025"/>
            <a:chOff x="0" y="0"/>
            <a:chExt cx="13423900" cy="38227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71450"/>
              <a:ext cx="13423900" cy="29866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</a:pPr>
              <a:r>
                <a:rPr lang="en-US" sz="8499">
                  <a:solidFill>
                    <a:srgbClr val="E8EAF6"/>
                  </a:solidFill>
                  <a:latin typeface="Roca Two"/>
                  <a:ea typeface="Roca Two"/>
                  <a:cs typeface="Roca Two"/>
                  <a:sym typeface="Roca Two"/>
                </a:rPr>
                <a:t>Introduction a Scrum-Agile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360420"/>
              <a:ext cx="134239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E8EAF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Présentation des objéctifs du projét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49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296400" y="685800"/>
            <a:ext cx="8324850" cy="0"/>
          </a:xfrm>
          <a:prstGeom prst="line">
            <a:avLst/>
          </a:prstGeom>
          <a:ln cap="flat" w="28575">
            <a:solidFill>
              <a:srgbClr val="E8EA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717858" y="8060757"/>
            <a:ext cx="1550987" cy="1559493"/>
          </a:xfrm>
          <a:custGeom>
            <a:avLst/>
            <a:gdLst/>
            <a:ahLst/>
            <a:cxnLst/>
            <a:rect r="r" b="b" t="t" l="l"/>
            <a:pathLst>
              <a:path h="1559493" w="1550987">
                <a:moveTo>
                  <a:pt x="0" y="0"/>
                </a:moveTo>
                <a:lnTo>
                  <a:pt x="1550986" y="0"/>
                </a:lnTo>
                <a:lnTo>
                  <a:pt x="1550986" y="1559493"/>
                </a:lnTo>
                <a:lnTo>
                  <a:pt x="0" y="1559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6750" y="838200"/>
            <a:ext cx="7909832" cy="4349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sz="8499">
                <a:solidFill>
                  <a:srgbClr val="E8EAF6"/>
                </a:solidFill>
                <a:latin typeface="Roca Two"/>
                <a:ea typeface="Roca Two"/>
                <a:cs typeface="Roca Two"/>
                <a:sym typeface="Roca Two"/>
              </a:rPr>
              <a:t>F</a:t>
            </a:r>
            <a:r>
              <a:rPr lang="en-US" sz="8499">
                <a:solidFill>
                  <a:srgbClr val="E8EAF6"/>
                </a:solidFill>
                <a:latin typeface="Roca Two"/>
                <a:ea typeface="Roca Two"/>
                <a:cs typeface="Roca Two"/>
                <a:sym typeface="Roca Two"/>
              </a:rPr>
              <a:t>ondamentaux de Scrum</a:t>
            </a:r>
          </a:p>
          <a:p>
            <a:pPr algn="l" marL="0" indent="0" lvl="0">
              <a:lnSpc>
                <a:spcPts val="8499"/>
              </a:lnSpc>
            </a:pPr>
          </a:p>
          <a:p>
            <a:pPr algn="l" marL="0" indent="0" lvl="0">
              <a:lnSpc>
                <a:spcPts val="8499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8088980"/>
            <a:chOff x="0" y="0"/>
            <a:chExt cx="9182100" cy="1078530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38100"/>
              <a:ext cx="91821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C5CAE9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Roles Scrum et résoponsabilité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11666"/>
              <a:ext cx="9182100" cy="1653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19"/>
                </a:lnSpc>
              </a:pP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Scrum comprend trois rôles clés : le 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Product Owner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, qui définit la vision ; le 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Scrum Master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, qui facilite le processus ; et l’équipe d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e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 dé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velop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pe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ment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, responsable de livrer les incréments.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962400"/>
              <a:ext cx="91821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C5CAE9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Ap</a:t>
              </a:r>
              <a:r>
                <a:rPr lang="en-US" b="true" sz="2100" spc="21">
                  <a:solidFill>
                    <a:srgbClr val="C5CAE9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erçu des artefacts Scrum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712166"/>
              <a:ext cx="9182100" cy="207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19"/>
                </a:lnSpc>
              </a:pP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Les a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rtefacts incluent le 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Product Backlog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, une liste priorisée des fonctionnalités, et le 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Sprint Backlog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, qui détaille les tâches d’un sprint spécifique afin d’assurer transparence et focalisation.</a:t>
              </a:r>
            </a:p>
            <a:p>
              <a:pPr algn="l" marL="0" indent="0" lvl="0">
                <a:lnSpc>
                  <a:spcPts val="2519"/>
                </a:lnSpc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8382000"/>
              <a:ext cx="91821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C5CAE9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Principal</a:t>
              </a:r>
              <a:r>
                <a:rPr lang="en-US" b="true" sz="2100" spc="21">
                  <a:solidFill>
                    <a:srgbClr val="C5CAE9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es cérémonies Scrum expliquées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9131766"/>
              <a:ext cx="9182100" cy="1653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19"/>
                </a:lnSpc>
              </a:pP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L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es cérémonies telles que la 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plan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ificatio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n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 de spr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in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t, le 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Daily Scrum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 et la revue de s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print 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facilitent la collaboration, permettent d’adapter les plans et d’évaluer les progrès pour assurer une amélioration continue au sein de l’équipe.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66750" y="8060757"/>
            <a:ext cx="1775820" cy="1559493"/>
          </a:xfrm>
          <a:custGeom>
            <a:avLst/>
            <a:gdLst/>
            <a:ahLst/>
            <a:cxnLst/>
            <a:rect r="r" b="b" t="t" l="l"/>
            <a:pathLst>
              <a:path h="1559493" w="1775820">
                <a:moveTo>
                  <a:pt x="0" y="0"/>
                </a:moveTo>
                <a:lnTo>
                  <a:pt x="1775820" y="0"/>
                </a:lnTo>
                <a:lnTo>
                  <a:pt x="1775820" y="1559493"/>
                </a:lnTo>
                <a:lnTo>
                  <a:pt x="0" y="15594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70263" y="8060757"/>
            <a:ext cx="1550987" cy="1559493"/>
          </a:xfrm>
          <a:custGeom>
            <a:avLst/>
            <a:gdLst/>
            <a:ahLst/>
            <a:cxnLst/>
            <a:rect r="r" b="b" t="t" l="l"/>
            <a:pathLst>
              <a:path h="1559493" w="1550987">
                <a:moveTo>
                  <a:pt x="0" y="0"/>
                </a:moveTo>
                <a:lnTo>
                  <a:pt x="1550987" y="0"/>
                </a:lnTo>
                <a:lnTo>
                  <a:pt x="1550987" y="1559493"/>
                </a:lnTo>
                <a:lnTo>
                  <a:pt x="0" y="1559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19156" y="8060757"/>
            <a:ext cx="1775820" cy="1559493"/>
          </a:xfrm>
          <a:custGeom>
            <a:avLst/>
            <a:gdLst/>
            <a:ahLst/>
            <a:cxnLst/>
            <a:rect r="r" b="b" t="t" l="l"/>
            <a:pathLst>
              <a:path h="1559493" w="1775820">
                <a:moveTo>
                  <a:pt x="0" y="0"/>
                </a:moveTo>
                <a:lnTo>
                  <a:pt x="1775820" y="0"/>
                </a:lnTo>
                <a:lnTo>
                  <a:pt x="1775820" y="1559493"/>
                </a:lnTo>
                <a:lnTo>
                  <a:pt x="0" y="15594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750" y="666750"/>
            <a:ext cx="10067925" cy="2867025"/>
            <a:chOff x="0" y="0"/>
            <a:chExt cx="13423900" cy="38227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71450"/>
              <a:ext cx="13423900" cy="29866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</a:pPr>
              <a:r>
                <a:rPr lang="en-US" sz="8499">
                  <a:solidFill>
                    <a:srgbClr val="E8EAF6"/>
                  </a:solidFill>
                  <a:latin typeface="Roca Two"/>
                  <a:ea typeface="Roca Two"/>
                  <a:cs typeface="Roca Two"/>
                  <a:sym typeface="Roca Two"/>
                </a:rPr>
                <a:t>Définition des Sprints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360420"/>
              <a:ext cx="134239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E8EAF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ompre</a:t>
              </a:r>
              <a:r>
                <a:rPr lang="en-US" b="true" sz="2100" spc="21">
                  <a:solidFill>
                    <a:srgbClr val="E8EAF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ndre les itérations fixes dans les cycles de projet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35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296400" y="685800"/>
            <a:ext cx="8324850" cy="0"/>
          </a:xfrm>
          <a:prstGeom prst="line">
            <a:avLst/>
          </a:prstGeom>
          <a:ln cap="flat" w="28575">
            <a:solidFill>
              <a:srgbClr val="E8EA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717858" y="8060757"/>
            <a:ext cx="1550987" cy="1559493"/>
          </a:xfrm>
          <a:custGeom>
            <a:avLst/>
            <a:gdLst/>
            <a:ahLst/>
            <a:cxnLst/>
            <a:rect r="r" b="b" t="t" l="l"/>
            <a:pathLst>
              <a:path h="1559493" w="1550987">
                <a:moveTo>
                  <a:pt x="0" y="0"/>
                </a:moveTo>
                <a:lnTo>
                  <a:pt x="1550986" y="0"/>
                </a:lnTo>
                <a:lnTo>
                  <a:pt x="1550986" y="1559493"/>
                </a:lnTo>
                <a:lnTo>
                  <a:pt x="0" y="1559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6750" y="838200"/>
            <a:ext cx="6886575" cy="4349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sz="8499">
                <a:solidFill>
                  <a:srgbClr val="E8EAF6"/>
                </a:solidFill>
                <a:latin typeface="Roca Two"/>
                <a:ea typeface="Roca Two"/>
                <a:cs typeface="Roca Two"/>
                <a:sym typeface="Roca Two"/>
              </a:rPr>
              <a:t>Répa</a:t>
            </a:r>
            <a:r>
              <a:rPr lang="en-US" sz="8499">
                <a:solidFill>
                  <a:srgbClr val="E8EAF6"/>
                </a:solidFill>
                <a:latin typeface="Roca Two"/>
                <a:ea typeface="Roca Two"/>
                <a:cs typeface="Roca Two"/>
                <a:sym typeface="Roca Two"/>
              </a:rPr>
              <a:t>rtition des taches</a:t>
            </a:r>
          </a:p>
          <a:p>
            <a:pPr algn="l" marL="1835145" indent="-917572" lvl="1">
              <a:lnSpc>
                <a:spcPts val="8499"/>
              </a:lnSpc>
              <a:buFont typeface="Arial"/>
              <a:buChar char="•"/>
            </a:pPr>
          </a:p>
          <a:p>
            <a:pPr algn="l" marL="0" indent="0" lvl="0">
              <a:lnSpc>
                <a:spcPts val="8499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5717255"/>
            <a:chOff x="0" y="0"/>
            <a:chExt cx="9182100" cy="762300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38100"/>
              <a:ext cx="91821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C5CAE9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Compre</a:t>
              </a:r>
              <a:r>
                <a:rPr lang="en-US" b="true" sz="2100" spc="21">
                  <a:solidFill>
                    <a:srgbClr val="C5CAE9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ndre les User Stories et leur importance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11666"/>
              <a:ext cx="9182100" cy="207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19"/>
                </a:lnSpc>
              </a:pP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Les u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ser stories représent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en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t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 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l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es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 besoins des utilisateurs finaux et servent de base au backlog du projet. Elles permettent à l’équipe de se concentrer sur la livraison de fonctionnalités à valeur ajoutée, en accord avec les attentes des utilisateurs.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4381500"/>
              <a:ext cx="91821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C5CAE9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Définir les tâches pour une exécution efficace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5131266"/>
              <a:ext cx="9182100" cy="2491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Le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s tâches décomposent les user stories en unités de tr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a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v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a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il 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g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ér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ables</a:t>
              </a:r>
              <a:r>
                <a:rPr lang="en-US" sz="1799" spc="35">
                  <a:solidFill>
                    <a:srgbClr val="E8EAF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. Cette division facilite l’attribution claire des responsabilités au sein de l’équipe, garantissant que chacun connaît son rôle et que la progression peut être suivie efficacement.</a:t>
              </a:r>
            </a:p>
            <a:p>
              <a:pPr algn="l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666750" y="8060757"/>
            <a:ext cx="1775820" cy="1559493"/>
          </a:xfrm>
          <a:custGeom>
            <a:avLst/>
            <a:gdLst/>
            <a:ahLst/>
            <a:cxnLst/>
            <a:rect r="r" b="b" t="t" l="l"/>
            <a:pathLst>
              <a:path h="1559493" w="1775820">
                <a:moveTo>
                  <a:pt x="0" y="0"/>
                </a:moveTo>
                <a:lnTo>
                  <a:pt x="1775820" y="0"/>
                </a:lnTo>
                <a:lnTo>
                  <a:pt x="1775820" y="1559493"/>
                </a:lnTo>
                <a:lnTo>
                  <a:pt x="0" y="15594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3949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0" y="1589314"/>
          <a:ext cx="18288000" cy="8716259"/>
        </p:xfrm>
        <a:graphic>
          <a:graphicData uri="http://schemas.openxmlformats.org/drawingml/2006/table">
            <a:tbl>
              <a:tblPr/>
              <a:tblGrid>
                <a:gridCol w="4817028"/>
                <a:gridCol w="4661101"/>
                <a:gridCol w="3992843"/>
                <a:gridCol w="4817028"/>
              </a:tblGrid>
              <a:tr h="159679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9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100" spc="42">
                          <a:solidFill>
                            <a:srgbClr val="3949AB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Sprint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9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100" spc="42">
                          <a:solidFill>
                            <a:srgbClr val="3949AB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Tâche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9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100" spc="42">
                          <a:solidFill>
                            <a:srgbClr val="3949AB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Assigné à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9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100" spc="42">
                          <a:solidFill>
                            <a:srgbClr val="3949AB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Status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</a:tr>
              <a:tr h="1423893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spc="36">
                          <a:solidFill>
                            <a:srgbClr val="E8EAF6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Découverte &amp; UX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800" spc="36">
                          <a:solidFill>
                            <a:srgbClr val="E8EAF6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Recueillir les exigences</a:t>
                      </a:r>
                      <a:endParaRPr lang="en-US" sz="1100"/>
                    </a:p>
                    <a:p>
                      <a:pPr algn="ctr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 spc="36">
                          <a:solidFill>
                            <a:srgbClr val="E8EAF6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Définir le backlog</a:t>
                      </a:r>
                    </a:p>
                    <a:p>
                      <a:pPr algn="ctr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 spc="36">
                          <a:solidFill>
                            <a:srgbClr val="E8EAF6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Créer les wireframes principales</a:t>
                      </a:r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spc="36">
                          <a:solidFill>
                            <a:srgbClr val="E8EAF6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B&amp; 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spc="36">
                          <a:solidFill>
                            <a:srgbClr val="E8EAF6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To 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</a:tr>
              <a:tr h="1423893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spc="36">
                          <a:solidFill>
                            <a:srgbClr val="E8EAF6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Bases Backend &amp; DB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800" spc="36">
                          <a:solidFill>
                            <a:srgbClr val="E8EAF6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Créer schéma BDD</a:t>
                      </a:r>
                      <a:endParaRPr lang="en-US" sz="1100"/>
                    </a:p>
                    <a:p>
                      <a:pPr algn="ctr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 spc="36">
                          <a:solidFill>
                            <a:srgbClr val="E8EAF6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Implementer authentification</a:t>
                      </a:r>
                    </a:p>
                    <a:p>
                      <a:pPr algn="ctr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 spc="36">
                          <a:solidFill>
                            <a:srgbClr val="E8EAF6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créer API principales</a:t>
                      </a:r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spc="36">
                          <a:solidFill>
                            <a:srgbClr val="E8EAF6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A &amp; 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spc="36">
                          <a:solidFill>
                            <a:srgbClr val="E8EAF6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To 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</a:tr>
              <a:tr h="1423893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spc="36">
                          <a:solidFill>
                            <a:srgbClr val="E8EAF6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Frontend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800" spc="36">
                          <a:solidFill>
                            <a:srgbClr val="E8EAF6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Développer un UI résponsive</a:t>
                      </a:r>
                      <a:endParaRPr lang="en-US" sz="1100"/>
                    </a:p>
                    <a:p>
                      <a:pPr algn="ctr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 spc="36">
                          <a:solidFill>
                            <a:srgbClr val="E8EAF6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Intégrer le frontend avec le backend</a:t>
                      </a:r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spc="36">
                          <a:solidFill>
                            <a:srgbClr val="E8EAF6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A &amp; 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spc="36">
                          <a:solidFill>
                            <a:srgbClr val="E8EAF6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To 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</a:tr>
              <a:tr h="1423893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spc="36">
                          <a:solidFill>
                            <a:srgbClr val="E8EAF6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Intégration &amp; Tests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800" spc="36">
                          <a:solidFill>
                            <a:srgbClr val="E8EAF6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Créer un prototype fonctionnel</a:t>
                      </a:r>
                      <a:endParaRPr lang="en-US" sz="1100"/>
                    </a:p>
                    <a:p>
                      <a:pPr algn="ctr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 spc="36">
                          <a:solidFill>
                            <a:srgbClr val="E8EAF6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Test mobiles et compatibilité navigateurs</a:t>
                      </a:r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spc="36">
                          <a:solidFill>
                            <a:srgbClr val="E8EAF6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A, B &amp; 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spc="36">
                          <a:solidFill>
                            <a:srgbClr val="E8EAF6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To 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</a:tr>
              <a:tr h="14238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spc="36">
                          <a:solidFill>
                            <a:srgbClr val="E8EAF6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Livraison Finale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800" spc="36">
                          <a:solidFill>
                            <a:srgbClr val="E8EAF6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Rédiger la documentation et livrer sur GitHub</a:t>
                      </a:r>
                      <a:endParaRPr lang="en-US" sz="1100"/>
                    </a:p>
                    <a:p>
                      <a:pPr algn="ctr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 spc="36">
                          <a:solidFill>
                            <a:srgbClr val="E8EAF6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Revue finale et Présentation</a:t>
                      </a:r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spc="36">
                          <a:solidFill>
                            <a:srgbClr val="E8EAF6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A,B &amp; 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spc="36">
                          <a:solidFill>
                            <a:srgbClr val="E8EAF6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To 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666750" y="666750"/>
            <a:ext cx="13670090" cy="1443807"/>
            <a:chOff x="0" y="0"/>
            <a:chExt cx="18226787" cy="192507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23825"/>
              <a:ext cx="18226787" cy="12653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853"/>
                </a:lnSpc>
              </a:pPr>
              <a:r>
                <a:rPr lang="en-US" sz="6853">
                  <a:solidFill>
                    <a:srgbClr val="E8EAF6"/>
                  </a:solidFill>
                  <a:latin typeface="Roca Two"/>
                  <a:ea typeface="Roca Two"/>
                  <a:cs typeface="Roca Two"/>
                  <a:sym typeface="Roca Two"/>
                </a:rPr>
                <a:t>Sprint Backlog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554493"/>
              <a:ext cx="18226787" cy="3705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7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834203" y="76200"/>
            <a:ext cx="4453797" cy="159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4"/>
              </a:lnSpc>
            </a:pPr>
            <a:r>
              <a:rPr lang="en-US" sz="4124">
                <a:solidFill>
                  <a:srgbClr val="E8EAF6"/>
                </a:solidFill>
                <a:latin typeface="Roca Two"/>
                <a:ea typeface="Roca Two"/>
                <a:cs typeface="Roca Two"/>
                <a:sym typeface="Roca Two"/>
              </a:rPr>
              <a:t>A : Développeur</a:t>
            </a:r>
          </a:p>
          <a:p>
            <a:pPr algn="l">
              <a:lnSpc>
                <a:spcPts val="4124"/>
              </a:lnSpc>
            </a:pPr>
            <a:r>
              <a:rPr lang="en-US" sz="4124">
                <a:solidFill>
                  <a:srgbClr val="E8EAF6"/>
                </a:solidFill>
                <a:latin typeface="Roca Two"/>
                <a:ea typeface="Roca Two"/>
                <a:cs typeface="Roca Two"/>
                <a:sym typeface="Roca Two"/>
              </a:rPr>
              <a:t>B: Scrum Master</a:t>
            </a:r>
          </a:p>
          <a:p>
            <a:pPr algn="l">
              <a:lnSpc>
                <a:spcPts val="4124"/>
              </a:lnSpc>
              <a:spcBef>
                <a:spcPct val="0"/>
              </a:spcBef>
            </a:pPr>
            <a:r>
              <a:rPr lang="en-US" sz="4124">
                <a:solidFill>
                  <a:srgbClr val="E8EAF6"/>
                </a:solidFill>
                <a:latin typeface="Roca Two"/>
                <a:ea typeface="Roca Two"/>
                <a:cs typeface="Roca Two"/>
                <a:sym typeface="Roca Two"/>
              </a:rPr>
              <a:t>C : Product Owner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70263" y="8060757"/>
            <a:ext cx="1550987" cy="1559493"/>
          </a:xfrm>
          <a:custGeom>
            <a:avLst/>
            <a:gdLst/>
            <a:ahLst/>
            <a:cxnLst/>
            <a:rect r="r" b="b" t="t" l="l"/>
            <a:pathLst>
              <a:path h="1559493" w="1550987">
                <a:moveTo>
                  <a:pt x="0" y="0"/>
                </a:moveTo>
                <a:lnTo>
                  <a:pt x="1550987" y="0"/>
                </a:lnTo>
                <a:lnTo>
                  <a:pt x="1550987" y="1559493"/>
                </a:lnTo>
                <a:lnTo>
                  <a:pt x="0" y="1559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19156" y="8060757"/>
            <a:ext cx="1775820" cy="1559493"/>
          </a:xfrm>
          <a:custGeom>
            <a:avLst/>
            <a:gdLst/>
            <a:ahLst/>
            <a:cxnLst/>
            <a:rect r="r" b="b" t="t" l="l"/>
            <a:pathLst>
              <a:path h="1559493" w="1775820">
                <a:moveTo>
                  <a:pt x="0" y="0"/>
                </a:moveTo>
                <a:lnTo>
                  <a:pt x="1775820" y="0"/>
                </a:lnTo>
                <a:lnTo>
                  <a:pt x="1775820" y="1559493"/>
                </a:lnTo>
                <a:lnTo>
                  <a:pt x="0" y="15594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750" y="666750"/>
            <a:ext cx="10067925" cy="1790700"/>
            <a:chOff x="0" y="0"/>
            <a:chExt cx="13423900" cy="23876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71450"/>
              <a:ext cx="13423900" cy="15515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</a:pPr>
              <a:r>
                <a:rPr lang="en-US" sz="8499">
                  <a:solidFill>
                    <a:srgbClr val="E8EAF6"/>
                  </a:solidFill>
                  <a:latin typeface="Roca Two"/>
                  <a:ea typeface="Roca Two"/>
                  <a:cs typeface="Roca Two"/>
                  <a:sym typeface="Roca Two"/>
                </a:rPr>
                <a:t>Réunion Régulière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925320"/>
              <a:ext cx="134239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E8EAF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Nécessité pour la transparance et la collaboration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35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620898" y="928154"/>
            <a:ext cx="7558190" cy="7688638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66750" y="666750"/>
            <a:ext cx="8324850" cy="388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00"/>
              </a:lnSpc>
            </a:pPr>
            <a:r>
              <a:rPr lang="en-US" sz="8500">
                <a:solidFill>
                  <a:srgbClr val="E8EAF6"/>
                </a:solidFill>
                <a:latin typeface="Roca Two"/>
                <a:ea typeface="Roca Two"/>
                <a:cs typeface="Roca Two"/>
                <a:sym typeface="Roca Two"/>
              </a:rPr>
              <a:t>Suivis des Progrès avec des Graphiques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29875" y="8696325"/>
            <a:ext cx="60579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60"/>
              </a:lnSpc>
            </a:pPr>
            <a:r>
              <a:rPr lang="en-US" sz="1900" spc="19">
                <a:solidFill>
                  <a:srgbClr val="C5CAE9"/>
                </a:solidFill>
                <a:latin typeface="Be Vietnam"/>
                <a:ea typeface="Be Vietnam"/>
                <a:cs typeface="Be Vietnam"/>
                <a:sym typeface="Be Vietnam"/>
              </a:rPr>
              <a:t>Visualizing Work Remaining Over Time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8370570"/>
            <a:ext cx="6886575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</a:pPr>
            <a:r>
              <a:rPr lang="en-US" sz="1800" spc="36">
                <a:solidFill>
                  <a:srgbClr val="E8EAF6"/>
                </a:solidFill>
                <a:latin typeface="Be Vietnam"/>
                <a:ea typeface="Be Vietnam"/>
                <a:cs typeface="Be Vietnam"/>
                <a:sym typeface="Be Vietnam"/>
              </a:rPr>
              <a:t>Les diagrammes de b</a:t>
            </a:r>
            <a:r>
              <a:rPr lang="en-US" sz="1800" spc="36">
                <a:solidFill>
                  <a:srgbClr val="E8EAF6"/>
                </a:solidFill>
                <a:latin typeface="Be Vietnam"/>
                <a:ea typeface="Be Vietnam"/>
                <a:cs typeface="Be Vietnam"/>
                <a:sym typeface="Be Vietnam"/>
              </a:rPr>
              <a:t>urndown offrent une représentation visuelle du travail accompli par rapport à ce qui reste à faire, aidant les équipes à rester concentrées et à ajuster leurs efforts tout au long du sprint.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49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70263" y="8060757"/>
            <a:ext cx="1550987" cy="1559493"/>
          </a:xfrm>
          <a:custGeom>
            <a:avLst/>
            <a:gdLst/>
            <a:ahLst/>
            <a:cxnLst/>
            <a:rect r="r" b="b" t="t" l="l"/>
            <a:pathLst>
              <a:path h="1559493" w="1550987">
                <a:moveTo>
                  <a:pt x="0" y="0"/>
                </a:moveTo>
                <a:lnTo>
                  <a:pt x="1550987" y="0"/>
                </a:lnTo>
                <a:lnTo>
                  <a:pt x="1550987" y="1559493"/>
                </a:lnTo>
                <a:lnTo>
                  <a:pt x="0" y="1559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19156" y="8060757"/>
            <a:ext cx="1775820" cy="1559493"/>
          </a:xfrm>
          <a:custGeom>
            <a:avLst/>
            <a:gdLst/>
            <a:ahLst/>
            <a:cxnLst/>
            <a:rect r="r" b="b" t="t" l="l"/>
            <a:pathLst>
              <a:path h="1559493" w="1775820">
                <a:moveTo>
                  <a:pt x="0" y="0"/>
                </a:moveTo>
                <a:lnTo>
                  <a:pt x="1775820" y="0"/>
                </a:lnTo>
                <a:lnTo>
                  <a:pt x="1775820" y="1559493"/>
                </a:lnTo>
                <a:lnTo>
                  <a:pt x="0" y="15594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750" y="666750"/>
            <a:ext cx="10067925" cy="3238500"/>
            <a:chOff x="0" y="0"/>
            <a:chExt cx="13423900" cy="43180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71450"/>
              <a:ext cx="13423900" cy="29866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</a:pPr>
              <a:r>
                <a:rPr lang="en-US" sz="8499">
                  <a:solidFill>
                    <a:srgbClr val="E8EAF6"/>
                  </a:solidFill>
                  <a:latin typeface="Roca Two"/>
                  <a:ea typeface="Roca Two"/>
                  <a:cs typeface="Roca Two"/>
                  <a:sym typeface="Roca Two"/>
                </a:rPr>
                <a:t>Revue de </a:t>
              </a:r>
              <a:r>
                <a:rPr lang="en-US" sz="8499">
                  <a:solidFill>
                    <a:srgbClr val="E8EAF6"/>
                  </a:solidFill>
                  <a:latin typeface="Roca Two"/>
                  <a:ea typeface="Roca Two"/>
                  <a:cs typeface="Roca Two"/>
                  <a:sym typeface="Roca Two"/>
                </a:rPr>
                <a:t>Sprint &amp; Rétrospective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360420"/>
              <a:ext cx="134239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E8EAF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É</a:t>
              </a:r>
              <a:r>
                <a:rPr lang="en-US" b="true" sz="2100" spc="21">
                  <a:solidFill>
                    <a:srgbClr val="E8EAF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valuation de la gestion de la charge de travail et des améliorations</a:t>
              </a:r>
            </a:p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70263" y="8060757"/>
            <a:ext cx="1550987" cy="1559493"/>
          </a:xfrm>
          <a:custGeom>
            <a:avLst/>
            <a:gdLst/>
            <a:ahLst/>
            <a:cxnLst/>
            <a:rect r="r" b="b" t="t" l="l"/>
            <a:pathLst>
              <a:path h="1559493" w="1550987">
                <a:moveTo>
                  <a:pt x="0" y="0"/>
                </a:moveTo>
                <a:lnTo>
                  <a:pt x="1550987" y="0"/>
                </a:lnTo>
                <a:lnTo>
                  <a:pt x="1550987" y="1559493"/>
                </a:lnTo>
                <a:lnTo>
                  <a:pt x="0" y="1559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19156" y="8060757"/>
            <a:ext cx="1775820" cy="1559493"/>
          </a:xfrm>
          <a:custGeom>
            <a:avLst/>
            <a:gdLst/>
            <a:ahLst/>
            <a:cxnLst/>
            <a:rect r="r" b="b" t="t" l="l"/>
            <a:pathLst>
              <a:path h="1559493" w="1775820">
                <a:moveTo>
                  <a:pt x="0" y="0"/>
                </a:moveTo>
                <a:lnTo>
                  <a:pt x="1775820" y="0"/>
                </a:lnTo>
                <a:lnTo>
                  <a:pt x="1775820" y="1559493"/>
                </a:lnTo>
                <a:lnTo>
                  <a:pt x="0" y="15594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750" y="666750"/>
            <a:ext cx="10067925" cy="1790700"/>
            <a:chOff x="0" y="0"/>
            <a:chExt cx="13423900" cy="23876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71450"/>
              <a:ext cx="13423900" cy="15515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</a:pPr>
              <a:r>
                <a:rPr lang="en-US" sz="8499">
                  <a:solidFill>
                    <a:srgbClr val="E8EAF6"/>
                  </a:solidFill>
                  <a:latin typeface="Roca Two"/>
                  <a:ea typeface="Roca Two"/>
                  <a:cs typeface="Roca Two"/>
                  <a:sym typeface="Roca Two"/>
                </a:rPr>
                <a:t>Conclusion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925320"/>
              <a:ext cx="134239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E8EAF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Recapitulation de l’impact de Scrum sur notre projet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0" y="4908232"/>
            <a:ext cx="18288000" cy="246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 spc="35">
                <a:solidFill>
                  <a:srgbClr val="E8EAF6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Nous avons organisé le projet avec Scrum, défini les rôles, créé les user st</a:t>
            </a:r>
            <a:r>
              <a:rPr lang="en-US" b="true" sz="3500" spc="35">
                <a:solidFill>
                  <a:srgbClr val="E8EAF6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ories, planifié et réalisé les sprints, et livré un prototype fonctionnel. Les prochaines étapes incluent l’optimisation du frontend, l’ajout de fonctionnalités avancées, les tests finaux et la livraison complète sur GitHub.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35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24162" y="3587750"/>
            <a:ext cx="12639675" cy="3368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999"/>
              </a:lnSpc>
            </a:pPr>
            <a:r>
              <a:rPr lang="en-US" sz="12999">
                <a:solidFill>
                  <a:srgbClr val="E8EAF6"/>
                </a:solidFill>
                <a:latin typeface="Roca Two"/>
                <a:ea typeface="Roca Two"/>
                <a:cs typeface="Roca Two"/>
                <a:sym typeface="Roca Two"/>
              </a:rPr>
              <a:t>Merci pour votre attention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049500" y="7026723"/>
            <a:ext cx="2571750" cy="2585855"/>
          </a:xfrm>
          <a:custGeom>
            <a:avLst/>
            <a:gdLst/>
            <a:ahLst/>
            <a:cxnLst/>
            <a:rect r="r" b="b" t="t" l="l"/>
            <a:pathLst>
              <a:path h="2585855" w="2571750">
                <a:moveTo>
                  <a:pt x="0" y="0"/>
                </a:moveTo>
                <a:lnTo>
                  <a:pt x="2571750" y="0"/>
                </a:lnTo>
                <a:lnTo>
                  <a:pt x="2571750" y="2585855"/>
                </a:lnTo>
                <a:lnTo>
                  <a:pt x="0" y="2585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386437"/>
            <a:ext cx="2571750" cy="2585855"/>
          </a:xfrm>
          <a:custGeom>
            <a:avLst/>
            <a:gdLst/>
            <a:ahLst/>
            <a:cxnLst/>
            <a:rect r="r" b="b" t="t" l="l"/>
            <a:pathLst>
              <a:path h="2585855" w="2571750">
                <a:moveTo>
                  <a:pt x="0" y="0"/>
                </a:moveTo>
                <a:lnTo>
                  <a:pt x="2571750" y="0"/>
                </a:lnTo>
                <a:lnTo>
                  <a:pt x="2571750" y="2585855"/>
                </a:lnTo>
                <a:lnTo>
                  <a:pt x="0" y="2585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Présentation - Management with Scrum</dc:description>
  <dc:identifier>DAG5ROw5CUk</dc:identifier>
  <dcterms:modified xsi:type="dcterms:W3CDTF">2011-08-01T06:04:30Z</dcterms:modified>
  <cp:revision>1</cp:revision>
  <dc:title>Présentation - Management with Scrum</dc:title>
</cp:coreProperties>
</file>